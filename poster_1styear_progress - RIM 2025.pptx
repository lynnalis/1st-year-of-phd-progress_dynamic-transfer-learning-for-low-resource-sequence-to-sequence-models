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60" r:id="rId2"/>
  </p:sldIdLst>
  <p:sldSz cx="30275213" cy="4280376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46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1pPr>
    <a:lvl2pPr marL="455613" indent="1588" algn="l" rtl="0" eaLnBrk="0" fontAlgn="base" hangingPunct="0">
      <a:spcBef>
        <a:spcPct val="0"/>
      </a:spcBef>
      <a:spcAft>
        <a:spcPct val="0"/>
      </a:spcAft>
      <a:defRPr sz="46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2813" indent="1588" algn="l" rtl="0" eaLnBrk="0" fontAlgn="base" hangingPunct="0">
      <a:spcBef>
        <a:spcPct val="0"/>
      </a:spcBef>
      <a:spcAft>
        <a:spcPct val="0"/>
      </a:spcAft>
      <a:defRPr sz="46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0013" indent="1588" algn="l" rtl="0" eaLnBrk="0" fontAlgn="base" hangingPunct="0">
      <a:spcBef>
        <a:spcPct val="0"/>
      </a:spcBef>
      <a:spcAft>
        <a:spcPct val="0"/>
      </a:spcAft>
      <a:defRPr sz="46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7213" indent="1588" algn="l" rtl="0" eaLnBrk="0" fontAlgn="base" hangingPunct="0">
      <a:spcBef>
        <a:spcPct val="0"/>
      </a:spcBef>
      <a:spcAft>
        <a:spcPct val="0"/>
      </a:spcAft>
      <a:defRPr sz="46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46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46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46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46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11">
          <p15:clr>
            <a:srgbClr val="A4A3A4"/>
          </p15:clr>
        </p15:guide>
        <p15:guide id="2" pos="84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FF33CC"/>
    <a:srgbClr val="FFFF00"/>
    <a:srgbClr val="333399"/>
    <a:srgbClr val="3366FF"/>
    <a:srgbClr val="0066FF"/>
    <a:srgbClr val="FF00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790CB7-4C0A-243E-BEB2-C5731179F1F3}" v="654" dt="2025-09-21T14:18:06.417"/>
    <p1510:client id="{8FB55F7B-12F5-2C12-49F4-FF732ADA9E1C}" v="444" dt="2025-09-21T16:26:03.1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22" autoAdjust="0"/>
    <p:restoredTop sz="93068" autoAdjust="0"/>
  </p:normalViewPr>
  <p:slideViewPr>
    <p:cSldViewPr snapToGrid="0">
      <p:cViewPr>
        <p:scale>
          <a:sx n="25" d="100"/>
          <a:sy n="25" d="100"/>
        </p:scale>
        <p:origin x="1872" y="72"/>
      </p:cViewPr>
      <p:guideLst>
        <p:guide orient="horz" pos="911"/>
        <p:guide pos="841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-1714" y="-58"/>
      </p:cViewPr>
      <p:guideLst>
        <p:guide orient="horz" pos="3024"/>
        <p:guide pos="2303"/>
      </p:guideLst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783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</a:extLst>
        </p:spPr>
        <p:txBody>
          <a:bodyPr vert="horz" wrap="square" lIns="22867" tIns="11432" rIns="22867" bIns="11432" numCol="1" anchor="t" anchorCtr="0" compatLnSpc="1">
            <a:prstTxWarp prst="textNoShape">
              <a:avLst/>
            </a:prstTxWarp>
          </a:bodyPr>
          <a:lstStyle>
            <a:lvl1pPr defTabSz="230188">
              <a:defRPr sz="400">
                <a:latin typeface="Times New Roman" charset="0"/>
                <a:ea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37025" y="0"/>
            <a:ext cx="3173413" cy="47783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</a:extLst>
        </p:spPr>
        <p:txBody>
          <a:bodyPr vert="horz" wrap="square" lIns="22867" tIns="11432" rIns="22867" bIns="11432" numCol="1" anchor="t" anchorCtr="0" compatLnSpc="1">
            <a:prstTxWarp prst="textNoShape">
              <a:avLst/>
            </a:prstTxWarp>
          </a:bodyPr>
          <a:lstStyle>
            <a:lvl1pPr algn="r" defTabSz="230188">
              <a:defRPr sz="400">
                <a:latin typeface="Times New Roman" charset="0"/>
                <a:ea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15425"/>
            <a:ext cx="3170238" cy="4826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</a:extLst>
        </p:spPr>
        <p:txBody>
          <a:bodyPr vert="horz" wrap="square" lIns="22867" tIns="11432" rIns="22867" bIns="11432" numCol="1" anchor="b" anchorCtr="0" compatLnSpc="1">
            <a:prstTxWarp prst="textNoShape">
              <a:avLst/>
            </a:prstTxWarp>
          </a:bodyPr>
          <a:lstStyle>
            <a:lvl1pPr defTabSz="230188">
              <a:defRPr sz="400">
                <a:latin typeface="Times New Roman" charset="0"/>
                <a:ea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37025" y="9115425"/>
            <a:ext cx="3173413" cy="4826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</a:extLst>
        </p:spPr>
        <p:txBody>
          <a:bodyPr vert="horz" wrap="square" lIns="22867" tIns="11432" rIns="22867" bIns="11432" numCol="1" anchor="b" anchorCtr="0" compatLnSpc="1">
            <a:prstTxWarp prst="textNoShape">
              <a:avLst/>
            </a:prstTxWarp>
          </a:bodyPr>
          <a:lstStyle>
            <a:lvl1pPr algn="r" defTabSz="230188">
              <a:defRPr sz="400"/>
            </a:lvl1pPr>
          </a:lstStyle>
          <a:p>
            <a:fld id="{D4C631CB-59B3-4640-9C0E-CAF7C3289A9F}" type="slidenum">
              <a:rPr lang="en-US" altLang="fr-FR"/>
              <a:pPr/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949721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783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</a:extLst>
        </p:spPr>
        <p:txBody>
          <a:bodyPr vert="horz" wrap="square" lIns="22867" tIns="11432" rIns="22867" bIns="11432" numCol="1" anchor="t" anchorCtr="0" compatLnSpc="1">
            <a:prstTxWarp prst="textNoShape">
              <a:avLst/>
            </a:prstTxWarp>
          </a:bodyPr>
          <a:lstStyle>
            <a:lvl1pPr defTabSz="230188">
              <a:defRPr sz="400">
                <a:latin typeface="Times New Roman" charset="0"/>
                <a:ea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4137025" y="0"/>
            <a:ext cx="3173413" cy="47783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</a:extLst>
        </p:spPr>
        <p:txBody>
          <a:bodyPr vert="horz" wrap="square" lIns="22867" tIns="11432" rIns="22867" bIns="11432" numCol="1" anchor="t" anchorCtr="0" compatLnSpc="1">
            <a:prstTxWarp prst="textNoShape">
              <a:avLst/>
            </a:prstTxWarp>
          </a:bodyPr>
          <a:lstStyle>
            <a:lvl1pPr algn="r" defTabSz="230188">
              <a:defRPr sz="400">
                <a:latin typeface="Times New Roman" charset="0"/>
                <a:ea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76488" y="714375"/>
            <a:ext cx="2555875" cy="3613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68375" y="4559300"/>
            <a:ext cx="5372100" cy="4322763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</a:extLst>
        </p:spPr>
        <p:txBody>
          <a:bodyPr vert="horz" wrap="square" lIns="22867" tIns="11432" rIns="22867" bIns="1143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5425"/>
            <a:ext cx="3170238" cy="4826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</a:extLst>
        </p:spPr>
        <p:txBody>
          <a:bodyPr vert="horz" wrap="square" lIns="22867" tIns="11432" rIns="22867" bIns="11432" numCol="1" anchor="b" anchorCtr="0" compatLnSpc="1">
            <a:prstTxWarp prst="textNoShape">
              <a:avLst/>
            </a:prstTxWarp>
          </a:bodyPr>
          <a:lstStyle>
            <a:lvl1pPr defTabSz="230188">
              <a:defRPr sz="400">
                <a:latin typeface="Times New Roman" charset="0"/>
                <a:ea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7025" y="9115425"/>
            <a:ext cx="3173413" cy="4826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</a:extLst>
        </p:spPr>
        <p:txBody>
          <a:bodyPr vert="horz" wrap="square" lIns="22867" tIns="11432" rIns="22867" bIns="11432" numCol="1" anchor="b" anchorCtr="0" compatLnSpc="1">
            <a:prstTxWarp prst="textNoShape">
              <a:avLst/>
            </a:prstTxWarp>
          </a:bodyPr>
          <a:lstStyle>
            <a:lvl1pPr algn="r" defTabSz="230188">
              <a:defRPr sz="400"/>
            </a:lvl1pPr>
          </a:lstStyle>
          <a:p>
            <a:fld id="{5F728B3A-CB03-4C84-9262-BC8C1A26DFB7}" type="slidenum">
              <a:rPr lang="en-US" altLang="fr-FR"/>
              <a:pPr/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29122723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4501" algn="l" defTabSz="456899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741400" algn="l" defTabSz="456899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198308" algn="l" defTabSz="456899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3655207" algn="l" defTabSz="456899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728B3A-CB03-4C84-9262-BC8C1A26DFB7}" type="slidenum">
              <a:rPr lang="en-US" altLang="fr-FR" smtClean="0"/>
              <a:pPr/>
              <a:t>1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3663219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270125" y="13296900"/>
            <a:ext cx="25734963" cy="9175750"/>
          </a:xfrm>
          <a:prstGeom prst="rect">
            <a:avLst/>
          </a:prstGeom>
        </p:spPr>
        <p:txBody>
          <a:bodyPr vert="horz"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541838" y="24255413"/>
            <a:ext cx="21191537" cy="10939462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3427799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514475" y="9986963"/>
            <a:ext cx="27246263" cy="28249562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161830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90775" y="27505025"/>
            <a:ext cx="25734963" cy="8501063"/>
          </a:xfrm>
          <a:prstGeom prst="rect">
            <a:avLst/>
          </a:prstGeom>
        </p:spPr>
        <p:txBody>
          <a:bodyPr vert="horz" anchor="t"/>
          <a:lstStyle>
            <a:lvl1pPr algn="l">
              <a:defRPr sz="4000" b="1" cap="all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390775" y="18141950"/>
            <a:ext cx="25734963" cy="9363075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64518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514475" y="9986963"/>
            <a:ext cx="13546138" cy="28249562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5213013" y="9986963"/>
            <a:ext cx="13547725" cy="28249562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880732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514475" y="9580563"/>
            <a:ext cx="13376275" cy="3994150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514475" y="13574713"/>
            <a:ext cx="13376275" cy="24661812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15379700" y="9580563"/>
            <a:ext cx="13381038" cy="3994150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15379700" y="13574713"/>
            <a:ext cx="13381038" cy="24661812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65225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8637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4509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14475" y="1704975"/>
            <a:ext cx="9959975" cy="7251700"/>
          </a:xfrm>
          <a:prstGeom prst="rect">
            <a:avLst/>
          </a:prstGeom>
        </p:spPr>
        <p:txBody>
          <a:bodyPr vert="horz"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836400" y="1704975"/>
            <a:ext cx="16924338" cy="36531550"/>
          </a:xfrm>
          <a:prstGeom prst="rect">
            <a:avLst/>
          </a:prstGeom>
        </p:spPr>
        <p:txBody>
          <a:bodyPr vert="horz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514475" y="8956675"/>
            <a:ext cx="9959975" cy="2927985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005282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934075" y="29962475"/>
            <a:ext cx="18165763" cy="3536950"/>
          </a:xfrm>
          <a:prstGeom prst="rect">
            <a:avLst/>
          </a:prstGeom>
        </p:spPr>
        <p:txBody>
          <a:bodyPr vert="horz"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5934075" y="3824288"/>
            <a:ext cx="18165763" cy="2568257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934075" y="33499425"/>
            <a:ext cx="18165763" cy="5024438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885657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14475" y="1714500"/>
            <a:ext cx="27246263" cy="7134225"/>
          </a:xfrm>
          <a:prstGeom prst="rect">
            <a:avLst/>
          </a:prstGeom>
        </p:spPr>
        <p:txBody>
          <a:bodyPr vert="horz"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514475" y="9986963"/>
            <a:ext cx="27246263" cy="282495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726951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514475" y="1714500"/>
            <a:ext cx="20283488" cy="365220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1808027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4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514475" y="9986963"/>
            <a:ext cx="13546138" cy="14047787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15213013" y="9986963"/>
            <a:ext cx="13547725" cy="14047787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3"/>
          </p:nvPr>
        </p:nvSpPr>
        <p:spPr>
          <a:xfrm>
            <a:off x="1514475" y="24187150"/>
            <a:ext cx="13546138" cy="14049375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15213013" y="24187150"/>
            <a:ext cx="13547725" cy="14049375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1514475" y="2400301"/>
            <a:ext cx="27246263" cy="7134225"/>
          </a:xfrm>
          <a:prstGeom prst="rect">
            <a:avLst/>
          </a:prstGeo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</p:spTree>
    <p:extLst>
      <p:ext uri="{BB962C8B-B14F-4D97-AF65-F5344CB8AC3E}">
        <p14:creationId xmlns:p14="http://schemas.microsoft.com/office/powerpoint/2010/main" val="2865205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Line 45"/>
          <p:cNvSpPr>
            <a:spLocks noChangeShapeType="1"/>
          </p:cNvSpPr>
          <p:nvPr/>
        </p:nvSpPr>
        <p:spPr bwMode="auto">
          <a:xfrm flipV="1">
            <a:off x="1101726" y="2993006"/>
            <a:ext cx="28071762" cy="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fr-FR">
              <a:latin typeface="Times New Roman" charset="0"/>
              <a:ea typeface="ＭＳ Ｐゴシック" charset="0"/>
            </a:endParaRPr>
          </a:p>
        </p:txBody>
      </p:sp>
      <p:sp>
        <p:nvSpPr>
          <p:cNvPr id="1085" name="Rectangle 61"/>
          <p:cNvSpPr>
            <a:spLocks noChangeArrowheads="1"/>
          </p:cNvSpPr>
          <p:nvPr/>
        </p:nvSpPr>
        <p:spPr bwMode="auto">
          <a:xfrm>
            <a:off x="0" y="21075650"/>
            <a:ext cx="30275213" cy="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Times New Roman" charset="0"/>
              <a:ea typeface="ＭＳ Ｐゴシック" charset="0"/>
            </a:endParaRPr>
          </a:p>
        </p:txBody>
      </p:sp>
      <p:sp>
        <p:nvSpPr>
          <p:cNvPr id="1092" name="Rectangle 68"/>
          <p:cNvSpPr>
            <a:spLocks noChangeArrowheads="1"/>
          </p:cNvSpPr>
          <p:nvPr/>
        </p:nvSpPr>
        <p:spPr bwMode="auto">
          <a:xfrm>
            <a:off x="0" y="0"/>
            <a:ext cx="30275213" cy="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Times New Roman" charset="0"/>
              <a:ea typeface="ＭＳ Ｐゴシック" charset="0"/>
            </a:endParaRPr>
          </a:p>
        </p:txBody>
      </p:sp>
      <p:sp>
        <p:nvSpPr>
          <p:cNvPr id="1094" name="Rectangle 70"/>
          <p:cNvSpPr>
            <a:spLocks noChangeArrowheads="1"/>
          </p:cNvSpPr>
          <p:nvPr/>
        </p:nvSpPr>
        <p:spPr bwMode="auto">
          <a:xfrm>
            <a:off x="0" y="20896263"/>
            <a:ext cx="30275213" cy="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Times New Roman" charset="0"/>
              <a:ea typeface="ＭＳ Ｐゴシック" charset="0"/>
            </a:endParaRPr>
          </a:p>
        </p:txBody>
      </p:sp>
      <p:sp>
        <p:nvSpPr>
          <p:cNvPr id="1096" name="Rectangle 72"/>
          <p:cNvSpPr>
            <a:spLocks noChangeArrowheads="1"/>
          </p:cNvSpPr>
          <p:nvPr/>
        </p:nvSpPr>
        <p:spPr bwMode="auto">
          <a:xfrm>
            <a:off x="0" y="21283613"/>
            <a:ext cx="30275213" cy="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Times New Roman" charset="0"/>
              <a:ea typeface="ＭＳ Ｐゴシック" charset="0"/>
            </a:endParaRPr>
          </a:p>
        </p:txBody>
      </p:sp>
      <p:sp>
        <p:nvSpPr>
          <p:cNvPr id="1132" name="Line 108"/>
          <p:cNvSpPr>
            <a:spLocks noChangeShapeType="1"/>
          </p:cNvSpPr>
          <p:nvPr userDrawn="1"/>
        </p:nvSpPr>
        <p:spPr bwMode="auto">
          <a:xfrm flipV="1">
            <a:off x="1093788" y="41130538"/>
            <a:ext cx="28071762" cy="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fr-FR">
              <a:latin typeface="Times New Roman" charset="0"/>
              <a:ea typeface="ＭＳ Ｐゴシック" charset="0"/>
            </a:endParaRPr>
          </a:p>
        </p:txBody>
      </p:sp>
      <p:sp>
        <p:nvSpPr>
          <p:cNvPr id="1134" name="Text Box 110"/>
          <p:cNvSpPr txBox="1">
            <a:spLocks noChangeArrowheads="1"/>
          </p:cNvSpPr>
          <p:nvPr userDrawn="1"/>
        </p:nvSpPr>
        <p:spPr bwMode="auto">
          <a:xfrm>
            <a:off x="16549688" y="41224200"/>
            <a:ext cx="12623800" cy="701675"/>
          </a:xfrm>
          <a:prstGeom prst="rect">
            <a:avLst/>
          </a:prstGeom>
          <a:noFill/>
          <a:ln>
            <a:noFill/>
          </a:ln>
          <a:effectLst/>
        </p:spPr>
        <p:txBody>
          <a:bodyPr lIns="91409" tIns="45705" rIns="91409" bIns="45705">
            <a:spAutoFit/>
          </a:bodyPr>
          <a:lstStyle/>
          <a:p>
            <a:pPr algn="r" defTabSz="912813" eaLnBrk="1" hangingPunct="1">
              <a:defRPr/>
            </a:pPr>
            <a:r>
              <a:rPr lang="en-US" sz="4000" i="1" dirty="0">
                <a:solidFill>
                  <a:schemeClr val="tx1"/>
                </a:solidFill>
                <a:latin typeface="Verdana" pitchFamily="34" charset="0"/>
              </a:rPr>
              <a:t>UIR</a:t>
            </a:r>
            <a:r>
              <a:rPr lang="en-US" sz="4000" i="1" baseline="0" dirty="0">
                <a:solidFill>
                  <a:schemeClr val="tx1"/>
                </a:solidFill>
                <a:latin typeface="Verdana" pitchFamily="34" charset="0"/>
              </a:rPr>
              <a:t> </a:t>
            </a:r>
            <a:r>
              <a:rPr lang="en-US" sz="4000" i="1" baseline="0" dirty="0" err="1">
                <a:solidFill>
                  <a:schemeClr val="tx1"/>
                </a:solidFill>
                <a:latin typeface="Verdana" pitchFamily="34" charset="0"/>
              </a:rPr>
              <a:t>Journée</a:t>
            </a:r>
            <a:r>
              <a:rPr lang="en-US" sz="4000" i="1" baseline="0" dirty="0">
                <a:solidFill>
                  <a:schemeClr val="tx1"/>
                </a:solidFill>
                <a:latin typeface="Verdana" pitchFamily="34" charset="0"/>
              </a:rPr>
              <a:t> </a:t>
            </a:r>
            <a:endParaRPr lang="en-US" sz="4000" i="1" dirty="0">
              <a:solidFill>
                <a:schemeClr val="tx1"/>
              </a:solidFill>
              <a:latin typeface="Verdana" pitchFamily="34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5492" y="724711"/>
            <a:ext cx="4464970" cy="1427938"/>
          </a:xfrm>
          <a:prstGeom prst="rect">
            <a:avLst/>
          </a:prstGeom>
        </p:spPr>
      </p:pic>
      <p:pic>
        <p:nvPicPr>
          <p:cNvPr id="12" name="Espace réservé du contenu 10"/>
          <p:cNvPicPr>
            <a:picLocks noGrp="1"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3147" y="575550"/>
            <a:ext cx="5330341" cy="1795259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3" name="Espace réservé du contenu 13"/>
          <p:cNvPicPr>
            <a:picLocks noGrp="1"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3" y="567857"/>
            <a:ext cx="8109089" cy="1737664"/>
          </a:xfrm>
          <a:prstGeom prst="rect">
            <a:avLst/>
          </a:prstGeom>
          <a:solidFill>
            <a:schemeClr val="bg1"/>
          </a:solidFill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3756025" rtl="0" eaLnBrk="0" fontAlgn="base" hangingPunct="0">
        <a:spcBef>
          <a:spcPct val="0"/>
        </a:spcBef>
        <a:spcAft>
          <a:spcPct val="0"/>
        </a:spcAft>
        <a:defRPr sz="9600">
          <a:solidFill>
            <a:srgbClr val="CC0000"/>
          </a:solidFill>
          <a:latin typeface="+mj-lt"/>
          <a:ea typeface="MS PGothic" pitchFamily="34" charset="-128"/>
          <a:cs typeface="+mj-cs"/>
        </a:defRPr>
      </a:lvl1pPr>
      <a:lvl2pPr algn="ctr" defTabSz="3756025" rtl="0" eaLnBrk="0" fontAlgn="base" hangingPunct="0">
        <a:spcBef>
          <a:spcPct val="0"/>
        </a:spcBef>
        <a:spcAft>
          <a:spcPct val="0"/>
        </a:spcAft>
        <a:defRPr sz="9600">
          <a:solidFill>
            <a:srgbClr val="CC0000"/>
          </a:solidFill>
          <a:latin typeface="Tahoma" charset="0"/>
          <a:ea typeface="MS PGothic" pitchFamily="34" charset="-128"/>
        </a:defRPr>
      </a:lvl2pPr>
      <a:lvl3pPr algn="ctr" defTabSz="3756025" rtl="0" eaLnBrk="0" fontAlgn="base" hangingPunct="0">
        <a:spcBef>
          <a:spcPct val="0"/>
        </a:spcBef>
        <a:spcAft>
          <a:spcPct val="0"/>
        </a:spcAft>
        <a:defRPr sz="9600">
          <a:solidFill>
            <a:srgbClr val="CC0000"/>
          </a:solidFill>
          <a:latin typeface="Tahoma" charset="0"/>
          <a:ea typeface="MS PGothic" pitchFamily="34" charset="-128"/>
        </a:defRPr>
      </a:lvl3pPr>
      <a:lvl4pPr algn="ctr" defTabSz="3756025" rtl="0" eaLnBrk="0" fontAlgn="base" hangingPunct="0">
        <a:spcBef>
          <a:spcPct val="0"/>
        </a:spcBef>
        <a:spcAft>
          <a:spcPct val="0"/>
        </a:spcAft>
        <a:defRPr sz="9600">
          <a:solidFill>
            <a:srgbClr val="CC0000"/>
          </a:solidFill>
          <a:latin typeface="Tahoma" charset="0"/>
          <a:ea typeface="MS PGothic" pitchFamily="34" charset="-128"/>
        </a:defRPr>
      </a:lvl4pPr>
      <a:lvl5pPr algn="ctr" defTabSz="3756025" rtl="0" eaLnBrk="0" fontAlgn="base" hangingPunct="0">
        <a:spcBef>
          <a:spcPct val="0"/>
        </a:spcBef>
        <a:spcAft>
          <a:spcPct val="0"/>
        </a:spcAft>
        <a:defRPr sz="9600">
          <a:solidFill>
            <a:srgbClr val="CC0000"/>
          </a:solidFill>
          <a:latin typeface="Tahoma" charset="0"/>
          <a:ea typeface="MS PGothic" pitchFamily="34" charset="-128"/>
        </a:defRPr>
      </a:lvl5pPr>
      <a:lvl6pPr marL="457200" algn="ctr" defTabSz="3756025" rtl="0" eaLnBrk="0" fontAlgn="base" hangingPunct="0">
        <a:spcBef>
          <a:spcPct val="0"/>
        </a:spcBef>
        <a:spcAft>
          <a:spcPct val="0"/>
        </a:spcAft>
        <a:defRPr sz="9600">
          <a:solidFill>
            <a:srgbClr val="CC0000"/>
          </a:solidFill>
          <a:latin typeface="Tahoma" charset="0"/>
          <a:ea typeface="ＭＳ Ｐゴシック" charset="0"/>
        </a:defRPr>
      </a:lvl6pPr>
      <a:lvl7pPr marL="914400" algn="ctr" defTabSz="3756025" rtl="0" eaLnBrk="0" fontAlgn="base" hangingPunct="0">
        <a:spcBef>
          <a:spcPct val="0"/>
        </a:spcBef>
        <a:spcAft>
          <a:spcPct val="0"/>
        </a:spcAft>
        <a:defRPr sz="9600">
          <a:solidFill>
            <a:srgbClr val="CC0000"/>
          </a:solidFill>
          <a:latin typeface="Tahoma" charset="0"/>
          <a:ea typeface="ＭＳ Ｐゴシック" charset="0"/>
        </a:defRPr>
      </a:lvl7pPr>
      <a:lvl8pPr marL="1371600" algn="ctr" defTabSz="3756025" rtl="0" eaLnBrk="0" fontAlgn="base" hangingPunct="0">
        <a:spcBef>
          <a:spcPct val="0"/>
        </a:spcBef>
        <a:spcAft>
          <a:spcPct val="0"/>
        </a:spcAft>
        <a:defRPr sz="9600">
          <a:solidFill>
            <a:srgbClr val="CC0000"/>
          </a:solidFill>
          <a:latin typeface="Tahoma" charset="0"/>
          <a:ea typeface="ＭＳ Ｐゴシック" charset="0"/>
        </a:defRPr>
      </a:lvl8pPr>
      <a:lvl9pPr marL="1828800" algn="ctr" defTabSz="3756025" rtl="0" eaLnBrk="0" fontAlgn="base" hangingPunct="0">
        <a:spcBef>
          <a:spcPct val="0"/>
        </a:spcBef>
        <a:spcAft>
          <a:spcPct val="0"/>
        </a:spcAft>
        <a:defRPr sz="9600">
          <a:solidFill>
            <a:srgbClr val="CC0000"/>
          </a:solidFill>
          <a:latin typeface="Tahoma" charset="0"/>
          <a:ea typeface="ＭＳ Ｐゴシック" charset="0"/>
        </a:defRPr>
      </a:lvl9pPr>
    </p:titleStyle>
    <p:bodyStyle>
      <a:lvl1pPr marL="342900" indent="-342900" algn="l" defTabSz="3756025" rtl="0" eaLnBrk="0" fontAlgn="base" hangingPunct="0">
        <a:spcBef>
          <a:spcPct val="20000"/>
        </a:spcBef>
        <a:spcAft>
          <a:spcPct val="0"/>
        </a:spcAft>
        <a:buChar char="•"/>
        <a:defRPr sz="5000">
          <a:solidFill>
            <a:srgbClr val="333399"/>
          </a:solidFill>
          <a:latin typeface="+mn-lt"/>
          <a:ea typeface="MS PGothic" pitchFamily="34" charset="-128"/>
          <a:cs typeface="+mn-cs"/>
        </a:defRPr>
      </a:lvl1pPr>
      <a:lvl2pPr marL="217488" indent="239713" algn="l" defTabSz="3756025" rtl="0" eaLnBrk="0" fontAlgn="base" hangingPunct="0">
        <a:spcBef>
          <a:spcPct val="20000"/>
        </a:spcBef>
        <a:spcAft>
          <a:spcPct val="0"/>
        </a:spcAft>
        <a:buChar char="–"/>
        <a:defRPr sz="4100">
          <a:solidFill>
            <a:schemeClr val="tx1"/>
          </a:solidFill>
          <a:latin typeface="Times New Roman" charset="0"/>
          <a:ea typeface="MS PGothic" pitchFamily="34" charset="-128"/>
        </a:defRPr>
      </a:lvl2pPr>
      <a:lvl3pPr marL="434975" indent="479425" algn="l" defTabSz="3756025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Times New Roman" charset="0"/>
          <a:ea typeface="MS PGothic" pitchFamily="34" charset="-128"/>
        </a:defRPr>
      </a:lvl3pPr>
      <a:lvl4pPr marL="6583363" indent="-942975" algn="l" defTabSz="3756025" rtl="0" eaLnBrk="0" fontAlgn="base" hangingPunct="0">
        <a:spcBef>
          <a:spcPct val="20000"/>
        </a:spcBef>
        <a:spcAft>
          <a:spcPct val="0"/>
        </a:spcAft>
        <a:buChar char="–"/>
        <a:defRPr sz="8200">
          <a:solidFill>
            <a:schemeClr val="tx1"/>
          </a:solidFill>
          <a:latin typeface="Times New Roman" charset="0"/>
          <a:ea typeface="MS PGothic" pitchFamily="34" charset="-128"/>
        </a:defRPr>
      </a:lvl4pPr>
      <a:lvl5pPr marL="8453438" indent="-935038" algn="l" defTabSz="3756025" rtl="0" eaLnBrk="0" fontAlgn="base" hangingPunct="0">
        <a:spcBef>
          <a:spcPct val="20000"/>
        </a:spcBef>
        <a:spcAft>
          <a:spcPct val="0"/>
        </a:spcAft>
        <a:buChar char="»"/>
        <a:defRPr sz="8200">
          <a:solidFill>
            <a:schemeClr val="tx1"/>
          </a:solidFill>
          <a:latin typeface="Times New Roman" charset="0"/>
          <a:ea typeface="MS PGothic" pitchFamily="34" charset="-128"/>
        </a:defRPr>
      </a:lvl5pPr>
      <a:lvl6pPr marL="8910638" indent="-935038" algn="l" defTabSz="3756025" rtl="0" eaLnBrk="0" fontAlgn="base" hangingPunct="0">
        <a:spcBef>
          <a:spcPct val="20000"/>
        </a:spcBef>
        <a:spcAft>
          <a:spcPct val="0"/>
        </a:spcAft>
        <a:defRPr sz="8200">
          <a:solidFill>
            <a:schemeClr val="tx1"/>
          </a:solidFill>
          <a:latin typeface="Times New Roman" charset="0"/>
          <a:ea typeface="+mn-ea"/>
        </a:defRPr>
      </a:lvl6pPr>
      <a:lvl7pPr marL="9367838" indent="-935038" algn="l" defTabSz="3756025" rtl="0" eaLnBrk="0" fontAlgn="base" hangingPunct="0">
        <a:spcBef>
          <a:spcPct val="20000"/>
        </a:spcBef>
        <a:spcAft>
          <a:spcPct val="0"/>
        </a:spcAft>
        <a:defRPr sz="8200">
          <a:solidFill>
            <a:schemeClr val="tx1"/>
          </a:solidFill>
          <a:latin typeface="Times New Roman" charset="0"/>
          <a:ea typeface="+mn-ea"/>
        </a:defRPr>
      </a:lvl7pPr>
      <a:lvl8pPr marL="9825038" indent="-935038" algn="l" defTabSz="3756025" rtl="0" eaLnBrk="0" fontAlgn="base" hangingPunct="0">
        <a:spcBef>
          <a:spcPct val="20000"/>
        </a:spcBef>
        <a:spcAft>
          <a:spcPct val="0"/>
        </a:spcAft>
        <a:defRPr sz="8200">
          <a:solidFill>
            <a:schemeClr val="tx1"/>
          </a:solidFill>
          <a:latin typeface="Times New Roman" charset="0"/>
          <a:ea typeface="+mn-ea"/>
        </a:defRPr>
      </a:lvl8pPr>
      <a:lvl9pPr marL="10282238" indent="-935038" algn="l" defTabSz="3756025" rtl="0" eaLnBrk="0" fontAlgn="base" hangingPunct="0">
        <a:spcBef>
          <a:spcPct val="20000"/>
        </a:spcBef>
        <a:spcAft>
          <a:spcPct val="0"/>
        </a:spcAft>
        <a:defRPr sz="8200">
          <a:solidFill>
            <a:schemeClr val="tx1"/>
          </a:solidFill>
          <a:latin typeface="Times New Roman" charset="0"/>
          <a:ea typeface="+mn-ea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214"/>
          <p:cNvSpPr>
            <a:spLocks noChangeArrowheads="1"/>
          </p:cNvSpPr>
          <p:nvPr/>
        </p:nvSpPr>
        <p:spPr bwMode="auto">
          <a:xfrm>
            <a:off x="2139950" y="32700913"/>
            <a:ext cx="9696450" cy="737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3362" rIns="0" bIns="43362"/>
          <a:lstStyle/>
          <a:p>
            <a:pPr marL="457200" indent="-457200" defTabSz="3756025">
              <a:spcBef>
                <a:spcPct val="20000"/>
              </a:spcBef>
            </a:pPr>
            <a:endParaRPr lang="fr-FR" sz="3600" b="1">
              <a:latin typeface="Tahoma" pitchFamily="34" charset="0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sz="quarter"/>
          </p:nvPr>
        </p:nvSpPr>
        <p:spPr bwMode="auto">
          <a:xfrm>
            <a:off x="2614485" y="3144135"/>
            <a:ext cx="26292854" cy="1862387"/>
          </a:xfrm>
        </p:spPr>
        <p:txBody>
          <a:bodyPr wrap="square" lIns="91409" tIns="45705" rIns="91409" bIns="45705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GB" sz="6000" b="1" err="1">
                <a:ea typeface="MS PGothic"/>
                <a:cs typeface="Tahoma"/>
              </a:rPr>
              <a:t>Apprentissage</a:t>
            </a:r>
            <a:r>
              <a:rPr lang="en-GB" sz="6000" b="1" dirty="0">
                <a:ea typeface="MS PGothic"/>
                <a:cs typeface="Tahoma"/>
              </a:rPr>
              <a:t> par </a:t>
            </a:r>
            <a:r>
              <a:rPr lang="en-GB" sz="6000" b="1" err="1">
                <a:ea typeface="MS PGothic"/>
                <a:cs typeface="Tahoma"/>
              </a:rPr>
              <a:t>transfert</a:t>
            </a:r>
            <a:r>
              <a:rPr lang="en-GB" sz="6000" b="1" dirty="0">
                <a:ea typeface="MS PGothic"/>
                <a:cs typeface="Tahoma"/>
              </a:rPr>
              <a:t> </a:t>
            </a:r>
            <a:r>
              <a:rPr lang="en-GB" sz="6000" b="1" err="1">
                <a:ea typeface="MS PGothic"/>
                <a:cs typeface="Tahoma"/>
              </a:rPr>
              <a:t>dynamique</a:t>
            </a:r>
            <a:r>
              <a:rPr lang="en-GB" sz="6000" b="1" dirty="0">
                <a:ea typeface="MS PGothic"/>
                <a:cs typeface="Tahoma"/>
              </a:rPr>
              <a:t> pour les </a:t>
            </a:r>
            <a:r>
              <a:rPr lang="en-GB" sz="6000" b="1" err="1">
                <a:ea typeface="MS PGothic"/>
                <a:cs typeface="Tahoma"/>
              </a:rPr>
              <a:t>modèles</a:t>
            </a:r>
            <a:r>
              <a:rPr lang="en-GB" sz="6000" b="1" dirty="0">
                <a:ea typeface="MS PGothic"/>
                <a:cs typeface="Tahoma"/>
              </a:rPr>
              <a:t> </a:t>
            </a:r>
            <a:r>
              <a:rPr lang="en-GB" sz="6000" b="1" err="1">
                <a:ea typeface="MS PGothic"/>
                <a:cs typeface="Tahoma"/>
              </a:rPr>
              <a:t>séquence</a:t>
            </a:r>
            <a:r>
              <a:rPr lang="en-GB" sz="6000" b="1" dirty="0">
                <a:ea typeface="MS PGothic"/>
                <a:cs typeface="Tahoma"/>
              </a:rPr>
              <a:t>-à-</a:t>
            </a:r>
            <a:r>
              <a:rPr lang="en-GB" sz="6000" b="1" err="1">
                <a:ea typeface="MS PGothic"/>
                <a:cs typeface="Tahoma"/>
              </a:rPr>
              <a:t>séquence</a:t>
            </a:r>
            <a:r>
              <a:rPr lang="en-GB" sz="6000" b="1" dirty="0">
                <a:ea typeface="MS PGothic"/>
                <a:cs typeface="Tahoma"/>
              </a:rPr>
              <a:t> </a:t>
            </a:r>
            <a:r>
              <a:rPr lang="en-GB" sz="6000" b="1" err="1">
                <a:ea typeface="MS PGothic"/>
                <a:cs typeface="Tahoma"/>
              </a:rPr>
              <a:t>en</a:t>
            </a:r>
            <a:r>
              <a:rPr lang="en-GB" sz="6000" b="1" dirty="0">
                <a:ea typeface="MS PGothic"/>
                <a:cs typeface="Tahoma"/>
              </a:rPr>
              <a:t> langue peu </a:t>
            </a:r>
            <a:r>
              <a:rPr lang="en-GB" sz="6000" b="1" err="1">
                <a:ea typeface="MS PGothic"/>
                <a:cs typeface="Tahoma"/>
              </a:rPr>
              <a:t>dotées</a:t>
            </a:r>
            <a:endParaRPr lang="en-GB" sz="6000" b="1">
              <a:cs typeface="Tahoma"/>
            </a:endParaRPr>
          </a:p>
        </p:txBody>
      </p:sp>
      <p:sp>
        <p:nvSpPr>
          <p:cNvPr id="10" name="Rectangle 2510"/>
          <p:cNvSpPr>
            <a:spLocks noChangeArrowheads="1"/>
          </p:cNvSpPr>
          <p:nvPr/>
        </p:nvSpPr>
        <p:spPr bwMode="auto">
          <a:xfrm>
            <a:off x="960567" y="9877726"/>
            <a:ext cx="28289776" cy="5914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0" tIns="43362" rIns="0" bIns="43362" anchor="t"/>
          <a:lstStyle>
            <a:lvl1pPr defTabSz="3756025">
              <a:defRPr sz="4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3756025">
              <a:defRPr sz="4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3756025">
              <a:defRPr sz="4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3756025">
              <a:defRPr sz="4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3756025">
              <a:defRPr sz="4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3756025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3756025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3756025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3756025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just">
              <a:spcBef>
                <a:spcPct val="20000"/>
              </a:spcBef>
              <a:defRPr/>
            </a:pPr>
            <a:r>
              <a:rPr lang="en-US" sz="4400" b="1" dirty="0">
                <a:solidFill>
                  <a:srgbClr val="333399"/>
                </a:solidFill>
                <a:latin typeface="Tahoma"/>
                <a:ea typeface="MS PGothic"/>
                <a:cs typeface="Tahoma"/>
              </a:rPr>
              <a:t>Introduction &amp; </a:t>
            </a:r>
            <a:r>
              <a:rPr lang="en-US" sz="4400" b="1" err="1">
                <a:solidFill>
                  <a:srgbClr val="333399"/>
                </a:solidFill>
                <a:latin typeface="Tahoma"/>
                <a:ea typeface="MS PGothic"/>
                <a:cs typeface="Tahoma"/>
              </a:rPr>
              <a:t>Problématique</a:t>
            </a:r>
            <a:endParaRPr lang="en-US" sz="4400" b="1">
              <a:solidFill>
                <a:srgbClr val="333399"/>
              </a:solidFill>
              <a:latin typeface="Tahoma"/>
              <a:ea typeface="MS PGothic"/>
              <a:cs typeface="Tahoma"/>
            </a:endParaRPr>
          </a:p>
          <a:p>
            <a:pPr algn="just">
              <a:defRPr/>
            </a:pPr>
            <a:r>
              <a:rPr lang="en-US" sz="4400" b="1" dirty="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Introduction &amp; Background</a:t>
            </a:r>
          </a:p>
          <a:p>
            <a:pPr algn="just">
              <a:defRPr/>
            </a:pPr>
            <a:endParaRPr lang="en-US" sz="4400" b="1" dirty="0">
              <a:latin typeface="Tahoma"/>
              <a:ea typeface="Tahoma"/>
              <a:cs typeface="Tahoma"/>
            </a:endParaRPr>
          </a:p>
          <a:p>
            <a:pPr algn="just">
              <a:defRPr/>
            </a:pPr>
            <a:r>
              <a:rPr lang="en-US" sz="4000" dirty="0">
                <a:latin typeface="Tahoma"/>
                <a:ea typeface="MS PGothic"/>
                <a:cs typeface="Tahoma"/>
              </a:rPr>
              <a:t>Low-resource NLP faces data scarcity and computational efficiency challenges. In neural machine translation, a transfer learning and </a:t>
            </a:r>
            <a:r>
              <a:rPr lang="en-US" sz="4000" err="1">
                <a:latin typeface="Tahoma"/>
                <a:ea typeface="MS PGothic"/>
                <a:cs typeface="Tahoma"/>
              </a:rPr>
              <a:t>kNN</a:t>
            </a:r>
            <a:r>
              <a:rPr lang="en-US" sz="4000" dirty="0">
                <a:latin typeface="Tahoma"/>
                <a:ea typeface="MS PGothic"/>
                <a:cs typeface="Tahoma"/>
              </a:rPr>
              <a:t>-based retrieval method (</a:t>
            </a:r>
            <a:r>
              <a:rPr lang="en-US" sz="4000" err="1">
                <a:latin typeface="Tahoma"/>
                <a:ea typeface="MS PGothic"/>
                <a:cs typeface="Tahoma"/>
              </a:rPr>
              <a:t>kNN</a:t>
            </a:r>
            <a:r>
              <a:rPr lang="en-US" sz="4000" dirty="0">
                <a:latin typeface="Tahoma"/>
                <a:ea typeface="MS PGothic"/>
                <a:cs typeface="Tahoma"/>
              </a:rPr>
              <a:t>-TL) managed to enhance performance yet </a:t>
            </a:r>
            <a:r>
              <a:rPr lang="en-US" sz="4000">
                <a:latin typeface="Tahoma"/>
                <a:ea typeface="MS PGothic"/>
                <a:cs typeface="Tahoma"/>
              </a:rPr>
              <a:t>incurred</a:t>
            </a:r>
            <a:r>
              <a:rPr lang="en-US" sz="4000" dirty="0">
                <a:latin typeface="Tahoma"/>
                <a:ea typeface="MS PGothic"/>
                <a:cs typeface="Tahoma"/>
              </a:rPr>
              <a:t> high latency and static usage of parent models. We address this gap by proposing a </a:t>
            </a:r>
            <a:r>
              <a:rPr lang="en-US" sz="4000" b="1" dirty="0">
                <a:latin typeface="Tahoma"/>
                <a:ea typeface="MS PGothic"/>
                <a:cs typeface="Tahoma"/>
              </a:rPr>
              <a:t>dynamic confidence-aware inference framework</a:t>
            </a:r>
            <a:r>
              <a:rPr lang="en-US" sz="4000" dirty="0">
                <a:latin typeface="Tahoma"/>
                <a:ea typeface="MS PGothic"/>
                <a:cs typeface="Tahoma"/>
              </a:rPr>
              <a:t>, where the child model queries the parent datastore only when uncertain. This balances translation quality with reduced computational cost and inference latency.</a:t>
            </a:r>
          </a:p>
          <a:p>
            <a:pPr algn="just">
              <a:defRPr/>
            </a:pPr>
            <a:endParaRPr lang="en-US" sz="3600" dirty="0"/>
          </a:p>
          <a:p>
            <a:pPr algn="just">
              <a:spcBef>
                <a:spcPct val="20000"/>
              </a:spcBef>
              <a:defRPr/>
            </a:pPr>
            <a:endParaRPr lang="en-US" sz="3600" dirty="0">
              <a:latin typeface="Tahoma" panose="020B0604030504040204" pitchFamily="34" charset="0"/>
            </a:endParaRPr>
          </a:p>
        </p:txBody>
      </p:sp>
      <p:sp>
        <p:nvSpPr>
          <p:cNvPr id="12" name="Rectangle 3260"/>
          <p:cNvSpPr>
            <a:spLocks noChangeArrowheads="1"/>
          </p:cNvSpPr>
          <p:nvPr/>
        </p:nvSpPr>
        <p:spPr bwMode="auto">
          <a:xfrm>
            <a:off x="960559" y="16417694"/>
            <a:ext cx="28289775" cy="53795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0" tIns="43362" rIns="0" bIns="43362" anchor="t"/>
          <a:lstStyle>
            <a:lvl1pPr defTabSz="3756025">
              <a:defRPr sz="4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3756025">
              <a:defRPr sz="4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3756025">
              <a:defRPr sz="4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3756025">
              <a:defRPr sz="4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3756025">
              <a:defRPr sz="4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3756025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3756025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3756025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3756025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just">
              <a:spcBef>
                <a:spcPct val="20000"/>
              </a:spcBef>
              <a:defRPr/>
            </a:pPr>
            <a:r>
              <a:rPr lang="fr-FR" sz="4400" b="1" dirty="0">
                <a:solidFill>
                  <a:srgbClr val="333399"/>
                </a:solidFill>
                <a:latin typeface="Tahoma"/>
                <a:ea typeface="MS PGothic"/>
                <a:cs typeface="Tahoma"/>
              </a:rPr>
              <a:t>Questions de recherche</a:t>
            </a:r>
            <a:endParaRPr lang="fr-FR" dirty="0">
              <a:cs typeface="Times New Roman"/>
            </a:endParaRPr>
          </a:p>
          <a:p>
            <a:pPr algn="just">
              <a:spcBef>
                <a:spcPct val="20000"/>
              </a:spcBef>
              <a:defRPr/>
            </a:pPr>
            <a:r>
              <a:rPr lang="en-US" sz="4400" b="1" dirty="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Research Questions</a:t>
            </a:r>
          </a:p>
          <a:p>
            <a:pPr algn="just">
              <a:spcBef>
                <a:spcPct val="20000"/>
              </a:spcBef>
              <a:defRPr/>
            </a:pPr>
            <a:endParaRPr lang="en-US" sz="4400" b="1" dirty="0">
              <a:latin typeface="Tahoma"/>
              <a:ea typeface="Tahoma"/>
              <a:cs typeface="Tahoma"/>
            </a:endParaRPr>
          </a:p>
          <a:p>
            <a:pPr marL="571500" indent="-571500" algn="just">
              <a:buFont typeface="Arial"/>
              <a:buChar char="•"/>
              <a:defRPr/>
            </a:pPr>
            <a:r>
              <a:rPr lang="fr-FR" sz="4000" dirty="0">
                <a:latin typeface="Tahoma"/>
                <a:ea typeface="MS PGothic"/>
                <a:cs typeface="Tahoma"/>
              </a:rPr>
              <a:t>Can a confidence-</a:t>
            </a:r>
            <a:r>
              <a:rPr lang="fr-FR" sz="4000" dirty="0" err="1">
                <a:latin typeface="Tahoma"/>
                <a:ea typeface="MS PGothic"/>
                <a:cs typeface="Tahoma"/>
              </a:rPr>
              <a:t>based</a:t>
            </a:r>
            <a:r>
              <a:rPr lang="fr-FR" sz="4000" dirty="0">
                <a:latin typeface="Tahoma"/>
                <a:ea typeface="MS PGothic"/>
                <a:cs typeface="Tahoma"/>
              </a:rPr>
              <a:t> </a:t>
            </a:r>
            <a:r>
              <a:rPr lang="fr-FR" sz="4000" dirty="0" err="1">
                <a:latin typeface="Tahoma"/>
                <a:ea typeface="MS PGothic"/>
                <a:cs typeface="Tahoma"/>
              </a:rPr>
              <a:t>mechanism</a:t>
            </a:r>
            <a:r>
              <a:rPr lang="fr-FR" sz="4000" dirty="0">
                <a:latin typeface="Tahoma"/>
                <a:ea typeface="MS PGothic"/>
                <a:cs typeface="Tahoma"/>
              </a:rPr>
              <a:t> </a:t>
            </a:r>
            <a:r>
              <a:rPr lang="fr-FR" sz="4000" dirty="0" err="1">
                <a:latin typeface="Tahoma"/>
                <a:ea typeface="MS PGothic"/>
                <a:cs typeface="Tahoma"/>
              </a:rPr>
              <a:t>improve</a:t>
            </a:r>
            <a:r>
              <a:rPr lang="fr-FR" sz="4000" dirty="0">
                <a:latin typeface="Tahoma"/>
                <a:ea typeface="MS PGothic"/>
                <a:cs typeface="Tahoma"/>
              </a:rPr>
              <a:t> </a:t>
            </a:r>
            <a:r>
              <a:rPr lang="fr-FR" sz="4000" dirty="0" err="1">
                <a:latin typeface="Tahoma"/>
                <a:ea typeface="MS PGothic"/>
                <a:cs typeface="Tahoma"/>
              </a:rPr>
              <a:t>efficiency</a:t>
            </a:r>
            <a:r>
              <a:rPr lang="fr-FR" sz="4000" dirty="0">
                <a:latin typeface="Tahoma"/>
                <a:ea typeface="MS PGothic"/>
                <a:cs typeface="Tahoma"/>
              </a:rPr>
              <a:t> of parent </a:t>
            </a:r>
            <a:r>
              <a:rPr lang="fr-FR" sz="4000" dirty="0" err="1">
                <a:latin typeface="Tahoma"/>
                <a:ea typeface="MS PGothic"/>
                <a:cs typeface="Tahoma"/>
              </a:rPr>
              <a:t>knowledge</a:t>
            </a:r>
            <a:r>
              <a:rPr lang="fr-FR" sz="4000" dirty="0">
                <a:latin typeface="Tahoma"/>
                <a:ea typeface="MS PGothic"/>
                <a:cs typeface="Tahoma"/>
              </a:rPr>
              <a:t> use </a:t>
            </a:r>
            <a:r>
              <a:rPr lang="fr-FR" sz="4000" dirty="0" err="1">
                <a:latin typeface="Tahoma"/>
                <a:ea typeface="MS PGothic"/>
                <a:cs typeface="Tahoma"/>
              </a:rPr>
              <a:t>during</a:t>
            </a:r>
            <a:r>
              <a:rPr lang="fr-FR" sz="4000" dirty="0">
                <a:latin typeface="Tahoma"/>
                <a:ea typeface="MS PGothic"/>
                <a:cs typeface="Tahoma"/>
              </a:rPr>
              <a:t> </a:t>
            </a:r>
            <a:r>
              <a:rPr lang="fr-FR" sz="4000" dirty="0" err="1">
                <a:latin typeface="Tahoma"/>
                <a:ea typeface="MS PGothic"/>
                <a:cs typeface="Tahoma"/>
              </a:rPr>
              <a:t>inference</a:t>
            </a:r>
            <a:r>
              <a:rPr lang="fr-FR" sz="4000" dirty="0">
                <a:latin typeface="Tahoma"/>
                <a:ea typeface="MS PGothic"/>
                <a:cs typeface="Tahoma"/>
              </a:rPr>
              <a:t>?</a:t>
            </a:r>
          </a:p>
          <a:p>
            <a:pPr marL="571500" indent="-571500" algn="just">
              <a:buFont typeface="Arial"/>
              <a:buChar char="•"/>
              <a:defRPr/>
            </a:pPr>
            <a:r>
              <a:rPr lang="fr-FR" sz="4000" dirty="0">
                <a:latin typeface="Tahoma"/>
                <a:ea typeface="MS PGothic"/>
                <a:cs typeface="Tahoma"/>
              </a:rPr>
              <a:t>To </a:t>
            </a:r>
            <a:r>
              <a:rPr lang="fr-FR" sz="4000" dirty="0" err="1">
                <a:latin typeface="Tahoma"/>
                <a:ea typeface="MS PGothic"/>
                <a:cs typeface="Tahoma"/>
              </a:rPr>
              <a:t>what</a:t>
            </a:r>
            <a:r>
              <a:rPr lang="fr-FR" sz="4000" dirty="0">
                <a:latin typeface="Tahoma"/>
                <a:ea typeface="MS PGothic"/>
                <a:cs typeface="Tahoma"/>
              </a:rPr>
              <a:t> </a:t>
            </a:r>
            <a:r>
              <a:rPr lang="fr-FR" sz="4000" dirty="0" err="1">
                <a:latin typeface="Tahoma"/>
                <a:ea typeface="MS PGothic"/>
                <a:cs typeface="Tahoma"/>
              </a:rPr>
              <a:t>extent</a:t>
            </a:r>
            <a:r>
              <a:rPr lang="fr-FR" sz="4000" dirty="0">
                <a:latin typeface="Tahoma"/>
                <a:ea typeface="MS PGothic"/>
                <a:cs typeface="Tahoma"/>
              </a:rPr>
              <a:t> can </a:t>
            </a:r>
            <a:r>
              <a:rPr lang="fr-FR" sz="4000" dirty="0" err="1">
                <a:latin typeface="Tahoma"/>
                <a:ea typeface="MS PGothic"/>
                <a:cs typeface="Tahoma"/>
              </a:rPr>
              <a:t>dynamic</a:t>
            </a:r>
            <a:r>
              <a:rPr lang="fr-FR" sz="4000" dirty="0">
                <a:latin typeface="Tahoma"/>
                <a:ea typeface="MS PGothic"/>
                <a:cs typeface="Tahoma"/>
              </a:rPr>
              <a:t> </a:t>
            </a:r>
            <a:r>
              <a:rPr lang="fr-FR" sz="4000" dirty="0" err="1">
                <a:latin typeface="Tahoma"/>
                <a:ea typeface="MS PGothic"/>
                <a:cs typeface="Tahoma"/>
              </a:rPr>
              <a:t>transfer</a:t>
            </a:r>
            <a:r>
              <a:rPr lang="fr-FR" sz="4000" dirty="0">
                <a:latin typeface="Tahoma"/>
                <a:ea typeface="MS PGothic"/>
                <a:cs typeface="Tahoma"/>
              </a:rPr>
              <a:t> </a:t>
            </a:r>
            <a:r>
              <a:rPr lang="fr-FR" sz="4000" dirty="0" err="1">
                <a:latin typeface="Tahoma"/>
                <a:ea typeface="MS PGothic"/>
                <a:cs typeface="Tahoma"/>
              </a:rPr>
              <a:t>learning</a:t>
            </a:r>
            <a:r>
              <a:rPr lang="fr-FR" sz="4000" dirty="0">
                <a:latin typeface="Tahoma"/>
                <a:ea typeface="MS PGothic"/>
                <a:cs typeface="Tahoma"/>
              </a:rPr>
              <a:t> </a:t>
            </a:r>
            <a:r>
              <a:rPr lang="fr-FR" sz="4000" dirty="0" err="1">
                <a:latin typeface="Tahoma"/>
                <a:ea typeface="MS PGothic"/>
                <a:cs typeface="Tahoma"/>
              </a:rPr>
              <a:t>outperform</a:t>
            </a:r>
            <a:r>
              <a:rPr lang="fr-FR" sz="4000" dirty="0">
                <a:latin typeface="Tahoma"/>
                <a:ea typeface="MS PGothic"/>
                <a:cs typeface="Tahoma"/>
              </a:rPr>
              <a:t> </a:t>
            </a:r>
            <a:r>
              <a:rPr lang="fr-FR" sz="4000" dirty="0" err="1">
                <a:latin typeface="Tahoma"/>
                <a:ea typeface="MS PGothic"/>
                <a:cs typeface="Tahoma"/>
              </a:rPr>
              <a:t>kNN</a:t>
            </a:r>
            <a:r>
              <a:rPr lang="fr-FR" sz="4000" dirty="0">
                <a:latin typeface="Tahoma"/>
                <a:ea typeface="MS PGothic"/>
                <a:cs typeface="Tahoma"/>
              </a:rPr>
              <a:t>-TL in BLEU score and </a:t>
            </a:r>
            <a:r>
              <a:rPr lang="fr-FR" sz="4000" dirty="0" err="1">
                <a:latin typeface="Tahoma"/>
                <a:ea typeface="MS PGothic"/>
                <a:cs typeface="Tahoma"/>
              </a:rPr>
              <a:t>latency</a:t>
            </a:r>
            <a:r>
              <a:rPr lang="fr-FR" sz="4000" dirty="0">
                <a:latin typeface="Tahoma"/>
                <a:ea typeface="MS PGothic"/>
                <a:cs typeface="Tahoma"/>
              </a:rPr>
              <a:t> </a:t>
            </a:r>
            <a:r>
              <a:rPr lang="fr-FR" sz="4000" dirty="0" err="1">
                <a:latin typeface="Tahoma"/>
                <a:ea typeface="MS PGothic"/>
                <a:cs typeface="Tahoma"/>
              </a:rPr>
              <a:t>reduction</a:t>
            </a:r>
            <a:r>
              <a:rPr lang="fr-FR" sz="4000" dirty="0">
                <a:latin typeface="Tahoma"/>
                <a:ea typeface="MS PGothic"/>
                <a:cs typeface="Tahoma"/>
              </a:rPr>
              <a:t>?</a:t>
            </a:r>
          </a:p>
          <a:p>
            <a:pPr marL="571500" indent="-571500" algn="just">
              <a:buFont typeface="Arial"/>
              <a:buChar char="•"/>
              <a:defRPr/>
            </a:pPr>
            <a:r>
              <a:rPr lang="fr-FR" sz="4000" dirty="0" err="1">
                <a:latin typeface="Tahoma"/>
                <a:ea typeface="MS PGothic"/>
                <a:cs typeface="Tahoma"/>
              </a:rPr>
              <a:t>What</a:t>
            </a:r>
            <a:r>
              <a:rPr lang="fr-FR" sz="4000" dirty="0">
                <a:latin typeface="Tahoma"/>
                <a:ea typeface="MS PGothic"/>
                <a:cs typeface="Tahoma"/>
              </a:rPr>
              <a:t> </a:t>
            </a:r>
            <a:r>
              <a:rPr lang="fr-FR" sz="4000" dirty="0" err="1">
                <a:latin typeface="Tahoma"/>
                <a:ea typeface="MS PGothic"/>
                <a:cs typeface="Tahoma"/>
              </a:rPr>
              <a:t>is</a:t>
            </a:r>
            <a:r>
              <a:rPr lang="fr-FR" sz="4000" dirty="0">
                <a:latin typeface="Tahoma"/>
                <a:ea typeface="MS PGothic"/>
                <a:cs typeface="Tahoma"/>
              </a:rPr>
              <a:t> the optimal </a:t>
            </a:r>
            <a:r>
              <a:rPr lang="fr-FR" sz="4000" dirty="0" err="1">
                <a:latin typeface="Tahoma"/>
                <a:ea typeface="MS PGothic"/>
                <a:cs typeface="Tahoma"/>
              </a:rPr>
              <a:t>child</a:t>
            </a:r>
            <a:r>
              <a:rPr lang="fr-FR" sz="4000" dirty="0">
                <a:latin typeface="Tahoma"/>
                <a:ea typeface="MS PGothic"/>
                <a:cs typeface="Tahoma"/>
              </a:rPr>
              <a:t> confidence </a:t>
            </a:r>
            <a:r>
              <a:rPr lang="fr-FR" sz="4000" dirty="0" err="1">
                <a:latin typeface="Tahoma"/>
                <a:ea typeface="MS PGothic"/>
                <a:cs typeface="Tahoma"/>
              </a:rPr>
              <a:t>threshold</a:t>
            </a:r>
            <a:r>
              <a:rPr lang="fr-FR" sz="4000" dirty="0">
                <a:latin typeface="Tahoma"/>
                <a:ea typeface="MS PGothic"/>
                <a:cs typeface="Tahoma"/>
              </a:rPr>
              <a:t> for </a:t>
            </a:r>
            <a:r>
              <a:rPr lang="fr-FR" sz="4000" dirty="0" err="1">
                <a:latin typeface="Tahoma"/>
                <a:ea typeface="MS PGothic"/>
                <a:cs typeface="Tahoma"/>
              </a:rPr>
              <a:t>invoking</a:t>
            </a:r>
            <a:r>
              <a:rPr lang="fr-FR" sz="4000" dirty="0">
                <a:latin typeface="Tahoma"/>
                <a:ea typeface="MS PGothic"/>
                <a:cs typeface="Tahoma"/>
              </a:rPr>
              <a:t> the parent </a:t>
            </a:r>
            <a:r>
              <a:rPr lang="fr-FR" sz="4000" dirty="0" err="1">
                <a:latin typeface="Tahoma"/>
                <a:ea typeface="MS PGothic"/>
                <a:cs typeface="Tahoma"/>
              </a:rPr>
              <a:t>knowledge</a:t>
            </a:r>
            <a:r>
              <a:rPr lang="fr-FR" sz="4000" dirty="0">
                <a:latin typeface="Tahoma"/>
                <a:ea typeface="MS PGothic"/>
                <a:cs typeface="Tahoma"/>
              </a:rPr>
              <a:t>?</a:t>
            </a:r>
          </a:p>
          <a:p>
            <a:pPr marL="571500" indent="-571500" algn="just">
              <a:buFont typeface="Arial"/>
              <a:buChar char="•"/>
              <a:defRPr/>
            </a:pPr>
            <a:r>
              <a:rPr lang="fr-FR" sz="4000" dirty="0">
                <a:latin typeface="Tahoma"/>
                <a:ea typeface="MS PGothic"/>
                <a:cs typeface="Tahoma"/>
              </a:rPr>
              <a:t>Can </a:t>
            </a:r>
            <a:r>
              <a:rPr lang="fr-FR" sz="4000" dirty="0" err="1">
                <a:latin typeface="Tahoma"/>
                <a:ea typeface="MS PGothic"/>
                <a:cs typeface="Tahoma"/>
              </a:rPr>
              <a:t>such</a:t>
            </a:r>
            <a:r>
              <a:rPr lang="fr-FR" sz="4000" dirty="0">
                <a:latin typeface="Tahoma"/>
                <a:ea typeface="MS PGothic"/>
                <a:cs typeface="Tahoma"/>
              </a:rPr>
              <a:t> a </a:t>
            </a:r>
            <a:r>
              <a:rPr lang="fr-FR" sz="4000" dirty="0" err="1">
                <a:latin typeface="Tahoma"/>
                <a:ea typeface="MS PGothic"/>
                <a:cs typeface="Tahoma"/>
              </a:rPr>
              <a:t>framework</a:t>
            </a:r>
            <a:r>
              <a:rPr lang="fr-FR" sz="4000" dirty="0">
                <a:latin typeface="Tahoma"/>
                <a:ea typeface="MS PGothic"/>
                <a:cs typeface="Tahoma"/>
              </a:rPr>
              <a:t> </a:t>
            </a:r>
            <a:r>
              <a:rPr lang="fr-FR" sz="4000" dirty="0" err="1">
                <a:latin typeface="Tahoma"/>
                <a:ea typeface="MS PGothic"/>
                <a:cs typeface="Tahoma"/>
              </a:rPr>
              <a:t>generalize</a:t>
            </a:r>
            <a:r>
              <a:rPr lang="fr-FR" sz="4000" dirty="0">
                <a:latin typeface="Tahoma"/>
                <a:ea typeface="MS PGothic"/>
                <a:cs typeface="Tahoma"/>
              </a:rPr>
              <a:t> to </a:t>
            </a:r>
            <a:r>
              <a:rPr lang="fr-FR" sz="4000" dirty="0" err="1">
                <a:latin typeface="Tahoma"/>
                <a:ea typeface="MS PGothic"/>
                <a:cs typeface="Tahoma"/>
              </a:rPr>
              <a:t>other</a:t>
            </a:r>
            <a:r>
              <a:rPr lang="fr-FR" sz="4000" dirty="0">
                <a:latin typeface="Tahoma"/>
                <a:ea typeface="MS PGothic"/>
                <a:cs typeface="Tahoma"/>
              </a:rPr>
              <a:t> </a:t>
            </a:r>
            <a:r>
              <a:rPr lang="fr-FR" sz="4000" dirty="0" err="1">
                <a:latin typeface="Tahoma"/>
                <a:ea typeface="MS PGothic"/>
                <a:cs typeface="Tahoma"/>
              </a:rPr>
              <a:t>sequence</a:t>
            </a:r>
            <a:r>
              <a:rPr lang="fr-FR" sz="4000" dirty="0">
                <a:latin typeface="Tahoma"/>
                <a:ea typeface="MS PGothic"/>
                <a:cs typeface="Tahoma"/>
              </a:rPr>
              <a:t>-to-</a:t>
            </a:r>
            <a:r>
              <a:rPr lang="fr-FR" sz="4000" dirty="0" err="1">
                <a:latin typeface="Tahoma"/>
                <a:ea typeface="MS PGothic"/>
                <a:cs typeface="Tahoma"/>
              </a:rPr>
              <a:t>sequence</a:t>
            </a:r>
            <a:r>
              <a:rPr lang="fr-FR" sz="4000" dirty="0">
                <a:latin typeface="Tahoma"/>
                <a:ea typeface="MS PGothic"/>
                <a:cs typeface="Tahoma"/>
              </a:rPr>
              <a:t> </a:t>
            </a:r>
            <a:r>
              <a:rPr lang="fr-FR" sz="4000" dirty="0" err="1">
                <a:latin typeface="Tahoma"/>
                <a:ea typeface="MS PGothic"/>
                <a:cs typeface="Tahoma"/>
              </a:rPr>
              <a:t>tasks</a:t>
            </a:r>
            <a:r>
              <a:rPr lang="fr-FR" sz="4000" dirty="0">
                <a:latin typeface="Tahoma"/>
                <a:ea typeface="MS PGothic"/>
                <a:cs typeface="Tahoma"/>
              </a:rPr>
              <a:t> </a:t>
            </a:r>
            <a:r>
              <a:rPr lang="fr-FR" sz="4000" dirty="0" err="1">
                <a:latin typeface="Tahoma"/>
                <a:ea typeface="MS PGothic"/>
                <a:cs typeface="Tahoma"/>
              </a:rPr>
              <a:t>beyond</a:t>
            </a:r>
            <a:r>
              <a:rPr lang="fr-FR" sz="4000" dirty="0">
                <a:latin typeface="Tahoma"/>
                <a:ea typeface="MS PGothic"/>
                <a:cs typeface="Tahoma"/>
              </a:rPr>
              <a:t> machine translation? </a:t>
            </a:r>
          </a:p>
          <a:p>
            <a:pPr marL="571500" indent="-571500" algn="just">
              <a:buFont typeface="Arial"/>
              <a:buChar char="•"/>
              <a:defRPr/>
            </a:pPr>
            <a:endParaRPr lang="fr-FR" sz="4000" dirty="0">
              <a:latin typeface="Tahoma"/>
              <a:ea typeface="MS PGothic"/>
              <a:cs typeface="Tahoma"/>
            </a:endParaRPr>
          </a:p>
          <a:p>
            <a:pPr algn="just">
              <a:defRPr/>
            </a:pPr>
            <a:endParaRPr lang="fr-FR" sz="4000" dirty="0">
              <a:latin typeface="Tahoma" panose="020B0604030504040204" pitchFamily="34" charset="0"/>
              <a:cs typeface="Tahoma"/>
            </a:endParaRPr>
          </a:p>
          <a:p>
            <a:pPr marL="571500" indent="-571500" algn="just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fr-FR" sz="36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" name="ZoneTexte 11"/>
          <p:cNvSpPr txBox="1">
            <a:spLocks noChangeArrowheads="1"/>
          </p:cNvSpPr>
          <p:nvPr/>
        </p:nvSpPr>
        <p:spPr bwMode="auto">
          <a:xfrm>
            <a:off x="992761" y="37257220"/>
            <a:ext cx="28232866" cy="45243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91440" tIns="45720" rIns="91440" bIns="45720" anchor="t">
            <a:spAutoFit/>
          </a:bodyPr>
          <a:lstStyle>
            <a:lvl1pPr>
              <a:defRPr sz="46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>
              <a:defRPr sz="46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>
              <a:defRPr sz="46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>
              <a:defRPr sz="46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>
              <a:defRPr sz="46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just">
              <a:defRPr/>
            </a:pPr>
            <a:r>
              <a:rPr lang="en-US" sz="4400" b="1" dirty="0" err="1">
                <a:solidFill>
                  <a:srgbClr val="333399"/>
                </a:solidFill>
                <a:latin typeface="Tahoma" panose="020B0604030504040204" pitchFamily="34" charset="0"/>
              </a:rPr>
              <a:t>Références</a:t>
            </a:r>
            <a:r>
              <a:rPr lang="en-US" sz="4400" b="1" dirty="0">
                <a:solidFill>
                  <a:srgbClr val="333399"/>
                </a:solidFill>
                <a:latin typeface="Tahoma" panose="020B0604030504040204" pitchFamily="34" charset="0"/>
              </a:rPr>
              <a:t> </a:t>
            </a:r>
            <a:r>
              <a:rPr lang="en-US" sz="4400" b="1" dirty="0" err="1">
                <a:solidFill>
                  <a:srgbClr val="333399"/>
                </a:solidFill>
                <a:latin typeface="Tahoma" panose="020B0604030504040204" pitchFamily="34" charset="0"/>
              </a:rPr>
              <a:t>clés</a:t>
            </a:r>
          </a:p>
          <a:p>
            <a:pPr algn="just">
              <a:defRPr/>
            </a:pPr>
            <a:r>
              <a:rPr lang="fr-FR" sz="4400" b="1" dirty="0">
                <a:latin typeface="Tahoma"/>
                <a:ea typeface="MS PGothic"/>
                <a:cs typeface="Tahoma"/>
              </a:rPr>
              <a:t>Key </a:t>
            </a:r>
            <a:r>
              <a:rPr lang="fr-FR" sz="4400" b="1" err="1">
                <a:latin typeface="Tahoma"/>
                <a:ea typeface="MS PGothic"/>
                <a:cs typeface="Tahoma"/>
              </a:rPr>
              <a:t>References</a:t>
            </a:r>
            <a:endParaRPr lang="fr-FR" sz="4400" b="1">
              <a:latin typeface="Tahoma"/>
              <a:ea typeface="MS PGothic"/>
              <a:cs typeface="Tahoma"/>
            </a:endParaRPr>
          </a:p>
          <a:p>
            <a:pPr algn="just" defTabSz="3756025">
              <a:buFont typeface="Arial"/>
              <a:defRPr/>
            </a:pPr>
            <a:endParaRPr lang="fr-FR" sz="4000" dirty="0">
              <a:latin typeface="Tahoma"/>
              <a:ea typeface="MS PGothic"/>
              <a:cs typeface="Tahoma"/>
            </a:endParaRPr>
          </a:p>
          <a:p>
            <a:pPr marL="285750" indent="-285750" algn="just" defTabSz="3756025">
              <a:buFont typeface="Arial"/>
              <a:buChar char="•"/>
              <a:defRPr/>
            </a:pPr>
            <a:r>
              <a:rPr lang="fr-FR" sz="4000" dirty="0" err="1">
                <a:latin typeface="Tahoma"/>
                <a:ea typeface="MS PGothic"/>
                <a:cs typeface="Tahoma"/>
              </a:rPr>
              <a:t>Zoph</a:t>
            </a:r>
            <a:r>
              <a:rPr lang="fr-FR" sz="4000" dirty="0">
                <a:latin typeface="Tahoma"/>
                <a:ea typeface="MS PGothic"/>
                <a:cs typeface="Tahoma"/>
              </a:rPr>
              <a:t> B. et al. Transfer </a:t>
            </a:r>
            <a:r>
              <a:rPr lang="fr-FR" sz="4000" dirty="0" err="1">
                <a:latin typeface="Tahoma"/>
                <a:ea typeface="MS PGothic"/>
                <a:cs typeface="Tahoma"/>
              </a:rPr>
              <a:t>learning</a:t>
            </a:r>
            <a:r>
              <a:rPr lang="fr-FR" sz="4000" dirty="0">
                <a:latin typeface="Tahoma"/>
                <a:ea typeface="MS PGothic"/>
                <a:cs typeface="Tahoma"/>
              </a:rPr>
              <a:t> for </a:t>
            </a:r>
            <a:r>
              <a:rPr lang="fr-FR" sz="4000" dirty="0" err="1">
                <a:latin typeface="Tahoma"/>
                <a:ea typeface="MS PGothic"/>
                <a:cs typeface="Tahoma"/>
              </a:rPr>
              <a:t>low-resource</a:t>
            </a:r>
            <a:r>
              <a:rPr lang="fr-FR" sz="4000" dirty="0">
                <a:latin typeface="Tahoma"/>
                <a:ea typeface="MS PGothic"/>
                <a:cs typeface="Tahoma"/>
              </a:rPr>
              <a:t> NMT. EMNLP, 2016.</a:t>
            </a:r>
          </a:p>
          <a:p>
            <a:pPr marL="285750" indent="-285750" algn="just" defTabSz="3756025">
              <a:buFont typeface="Arial"/>
              <a:buChar char="•"/>
              <a:defRPr/>
            </a:pPr>
            <a:r>
              <a:rPr lang="fr-FR" sz="4000" dirty="0" err="1">
                <a:latin typeface="Tahoma"/>
                <a:ea typeface="MS PGothic"/>
                <a:cs typeface="Tahoma"/>
              </a:rPr>
              <a:t>Khandelwal</a:t>
            </a:r>
            <a:r>
              <a:rPr lang="fr-FR" sz="4000" dirty="0">
                <a:latin typeface="Tahoma"/>
                <a:ea typeface="MS PGothic"/>
                <a:cs typeface="Tahoma"/>
              </a:rPr>
              <a:t> U. et al. </a:t>
            </a:r>
            <a:r>
              <a:rPr lang="fr-FR" sz="4000" dirty="0" err="1">
                <a:latin typeface="Tahoma"/>
                <a:ea typeface="MS PGothic"/>
                <a:cs typeface="Tahoma"/>
              </a:rPr>
              <a:t>Nearest</a:t>
            </a:r>
            <a:r>
              <a:rPr lang="fr-FR" sz="4000" dirty="0">
                <a:latin typeface="Tahoma"/>
                <a:ea typeface="MS PGothic"/>
                <a:cs typeface="Tahoma"/>
              </a:rPr>
              <a:t> </a:t>
            </a:r>
            <a:r>
              <a:rPr lang="fr-FR" sz="4000" dirty="0" err="1">
                <a:latin typeface="Tahoma"/>
                <a:ea typeface="MS PGothic"/>
                <a:cs typeface="Tahoma"/>
              </a:rPr>
              <a:t>neighbor</a:t>
            </a:r>
            <a:r>
              <a:rPr lang="fr-FR" sz="4000" dirty="0">
                <a:latin typeface="Tahoma"/>
                <a:ea typeface="MS PGothic"/>
                <a:cs typeface="Tahoma"/>
              </a:rPr>
              <a:t> machine translation. ICLR, 2021.</a:t>
            </a:r>
          </a:p>
          <a:p>
            <a:pPr marL="285750" indent="-285750" algn="just" defTabSz="3756025">
              <a:buFont typeface="Arial"/>
              <a:buChar char="•"/>
              <a:defRPr/>
            </a:pPr>
            <a:r>
              <a:rPr lang="fr-FR" sz="4000" dirty="0">
                <a:latin typeface="Tahoma"/>
                <a:ea typeface="MS PGothic"/>
                <a:cs typeface="Tahoma"/>
              </a:rPr>
              <a:t>Liu S. et al. </a:t>
            </a:r>
            <a:r>
              <a:rPr lang="fr-FR" sz="4000" dirty="0" err="1">
                <a:latin typeface="Tahoma"/>
                <a:ea typeface="MS PGothic"/>
                <a:cs typeface="Tahoma"/>
              </a:rPr>
              <a:t>kNN</a:t>
            </a:r>
            <a:r>
              <a:rPr lang="fr-FR" sz="4000" dirty="0">
                <a:latin typeface="Tahoma"/>
                <a:ea typeface="MS PGothic"/>
                <a:cs typeface="Tahoma"/>
              </a:rPr>
              <a:t>-TL for </a:t>
            </a:r>
            <a:r>
              <a:rPr lang="fr-FR" sz="4000" dirty="0" err="1">
                <a:latin typeface="Tahoma"/>
                <a:ea typeface="MS PGothic"/>
                <a:cs typeface="Tahoma"/>
              </a:rPr>
              <a:t>low-resource</a:t>
            </a:r>
            <a:r>
              <a:rPr lang="fr-FR" sz="4000" dirty="0">
                <a:latin typeface="Tahoma"/>
                <a:ea typeface="MS PGothic"/>
                <a:cs typeface="Tahoma"/>
              </a:rPr>
              <a:t> NMT. ACL, 2023</a:t>
            </a:r>
          </a:p>
          <a:p>
            <a:pPr algn="just" defTabSz="3756025">
              <a:defRPr/>
            </a:pPr>
            <a:endParaRPr lang="fr-FR" sz="4000" dirty="0">
              <a:latin typeface="Tahoma"/>
              <a:ea typeface="MS PGothic"/>
              <a:cs typeface="Tahoma"/>
            </a:endParaRPr>
          </a:p>
        </p:txBody>
      </p:sp>
      <p:sp>
        <p:nvSpPr>
          <p:cNvPr id="40" name="Rectangle 2">
            <a:extLst>
              <a:ext uri="{FF2B5EF4-FFF2-40B4-BE49-F238E27FC236}">
                <a16:creationId xmlns:a16="http://schemas.microsoft.com/office/drawing/2014/main" id="{A6E70DC2-DED3-485F-8C75-50AD0D2280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308" y="6865118"/>
            <a:ext cx="27986068" cy="1903470"/>
          </a:xfrm>
          <a:prstGeom prst="rect">
            <a:avLst/>
          </a:prstGeom>
        </p:spPr>
        <p:txBody>
          <a:bodyPr vert="horz" wrap="square" lIns="91409" tIns="45705" rIns="91409" bIns="45705" numCol="1" anchor="t" anchorCtr="0" compatLnSpc="1">
            <a:prstTxWarp prst="textNoShape">
              <a:avLst/>
            </a:prstTxWarp>
          </a:bodyPr>
          <a:lstStyle>
            <a:lvl1pPr algn="ctr" defTabSz="3756025" rtl="0" eaLnBrk="0" fontAlgn="base" hangingPunct="0">
              <a:spcBef>
                <a:spcPct val="0"/>
              </a:spcBef>
              <a:spcAft>
                <a:spcPct val="0"/>
              </a:spcAft>
              <a:defRPr sz="9600">
                <a:solidFill>
                  <a:schemeClr val="tx1"/>
                </a:solidFill>
                <a:latin typeface="+mj-lt"/>
                <a:ea typeface="MS PGothic" pitchFamily="34" charset="-128"/>
                <a:cs typeface="+mj-cs"/>
              </a:defRPr>
            </a:lvl1pPr>
            <a:lvl2pPr algn="ctr" defTabSz="3756025" rtl="0" eaLnBrk="0" fontAlgn="base" hangingPunct="0">
              <a:spcBef>
                <a:spcPct val="0"/>
              </a:spcBef>
              <a:spcAft>
                <a:spcPct val="0"/>
              </a:spcAft>
              <a:defRPr sz="9600">
                <a:solidFill>
                  <a:srgbClr val="CC0000"/>
                </a:solidFill>
                <a:latin typeface="Tahoma" charset="0"/>
                <a:ea typeface="MS PGothic" pitchFamily="34" charset="-128"/>
              </a:defRPr>
            </a:lvl2pPr>
            <a:lvl3pPr algn="ctr" defTabSz="3756025" rtl="0" eaLnBrk="0" fontAlgn="base" hangingPunct="0">
              <a:spcBef>
                <a:spcPct val="0"/>
              </a:spcBef>
              <a:spcAft>
                <a:spcPct val="0"/>
              </a:spcAft>
              <a:defRPr sz="9600">
                <a:solidFill>
                  <a:srgbClr val="CC0000"/>
                </a:solidFill>
                <a:latin typeface="Tahoma" charset="0"/>
                <a:ea typeface="MS PGothic" pitchFamily="34" charset="-128"/>
              </a:defRPr>
            </a:lvl3pPr>
            <a:lvl4pPr algn="ctr" defTabSz="3756025" rtl="0" eaLnBrk="0" fontAlgn="base" hangingPunct="0">
              <a:spcBef>
                <a:spcPct val="0"/>
              </a:spcBef>
              <a:spcAft>
                <a:spcPct val="0"/>
              </a:spcAft>
              <a:defRPr sz="9600">
                <a:solidFill>
                  <a:srgbClr val="CC0000"/>
                </a:solidFill>
                <a:latin typeface="Tahoma" charset="0"/>
                <a:ea typeface="MS PGothic" pitchFamily="34" charset="-128"/>
              </a:defRPr>
            </a:lvl4pPr>
            <a:lvl5pPr algn="ctr" defTabSz="3756025" rtl="0" eaLnBrk="0" fontAlgn="base" hangingPunct="0">
              <a:spcBef>
                <a:spcPct val="0"/>
              </a:spcBef>
              <a:spcAft>
                <a:spcPct val="0"/>
              </a:spcAft>
              <a:defRPr sz="9600">
                <a:solidFill>
                  <a:srgbClr val="CC0000"/>
                </a:solidFill>
                <a:latin typeface="Tahoma" charset="0"/>
                <a:ea typeface="MS PGothic" pitchFamily="34" charset="-128"/>
              </a:defRPr>
            </a:lvl5pPr>
            <a:lvl6pPr marL="457200" algn="ctr" defTabSz="3756025" rtl="0" eaLnBrk="0" fontAlgn="base" hangingPunct="0">
              <a:spcBef>
                <a:spcPct val="0"/>
              </a:spcBef>
              <a:spcAft>
                <a:spcPct val="0"/>
              </a:spcAft>
              <a:defRPr sz="9600">
                <a:solidFill>
                  <a:srgbClr val="CC0000"/>
                </a:solidFill>
                <a:latin typeface="Tahoma" charset="0"/>
                <a:ea typeface="ＭＳ Ｐゴシック" charset="0"/>
              </a:defRPr>
            </a:lvl6pPr>
            <a:lvl7pPr marL="914400" algn="ctr" defTabSz="3756025" rtl="0" eaLnBrk="0" fontAlgn="base" hangingPunct="0">
              <a:spcBef>
                <a:spcPct val="0"/>
              </a:spcBef>
              <a:spcAft>
                <a:spcPct val="0"/>
              </a:spcAft>
              <a:defRPr sz="9600">
                <a:solidFill>
                  <a:srgbClr val="CC0000"/>
                </a:solidFill>
                <a:latin typeface="Tahoma" charset="0"/>
                <a:ea typeface="ＭＳ Ｐゴシック" charset="0"/>
              </a:defRPr>
            </a:lvl7pPr>
            <a:lvl8pPr marL="1371600" algn="ctr" defTabSz="3756025" rtl="0" eaLnBrk="0" fontAlgn="base" hangingPunct="0">
              <a:spcBef>
                <a:spcPct val="0"/>
              </a:spcBef>
              <a:spcAft>
                <a:spcPct val="0"/>
              </a:spcAft>
              <a:defRPr sz="9600">
                <a:solidFill>
                  <a:srgbClr val="CC0000"/>
                </a:solidFill>
                <a:latin typeface="Tahoma" charset="0"/>
                <a:ea typeface="ＭＳ Ｐゴシック" charset="0"/>
              </a:defRPr>
            </a:lvl8pPr>
            <a:lvl9pPr marL="1828800" algn="ctr" defTabSz="3756025" rtl="0" eaLnBrk="0" fontAlgn="base" hangingPunct="0">
              <a:spcBef>
                <a:spcPct val="0"/>
              </a:spcBef>
              <a:spcAft>
                <a:spcPct val="0"/>
              </a:spcAft>
              <a:defRPr sz="9600">
                <a:solidFill>
                  <a:srgbClr val="CC0000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4000" b="1" dirty="0">
                <a:solidFill>
                  <a:srgbClr val="333399"/>
                </a:solidFill>
                <a:ea typeface="+mj-lt"/>
                <a:cs typeface="+mj-lt"/>
              </a:rPr>
              <a:t>Niama EDDARBALI¹, Youness MOUKAFIH²</a:t>
            </a:r>
            <a:br>
              <a:rPr lang="en-GB" sz="4000" b="1" dirty="0">
                <a:ea typeface="+mj-lt"/>
                <a:cs typeface="+mj-lt"/>
              </a:rPr>
            </a:br>
            <a:r>
              <a:rPr lang="en-GB" sz="4000" b="1">
                <a:solidFill>
                  <a:srgbClr val="333399"/>
                </a:solidFill>
                <a:ea typeface="+mj-lt"/>
                <a:cs typeface="+mj-lt"/>
              </a:rPr>
              <a:t> ¹Doctorante, </a:t>
            </a:r>
            <a:r>
              <a:rPr lang="en-GB" sz="4000" b="1" dirty="0" err="1">
                <a:solidFill>
                  <a:srgbClr val="333399"/>
                </a:solidFill>
                <a:ea typeface="+mj-lt"/>
                <a:cs typeface="+mj-lt"/>
              </a:rPr>
              <a:t>TICLab</a:t>
            </a:r>
            <a:r>
              <a:rPr lang="en-GB" sz="4000" b="1" dirty="0">
                <a:solidFill>
                  <a:srgbClr val="333399"/>
                </a:solidFill>
                <a:ea typeface="+mj-lt"/>
                <a:cs typeface="+mj-lt"/>
              </a:rPr>
              <a:t>, Programme STI, Université Internationale de Rabat (UIR)</a:t>
            </a:r>
            <a:br>
              <a:rPr lang="en-GB" sz="4000" b="1" dirty="0">
                <a:ea typeface="+mj-lt"/>
                <a:cs typeface="+mj-lt"/>
              </a:rPr>
            </a:br>
            <a:r>
              <a:rPr lang="en-GB" sz="4000" b="1" dirty="0">
                <a:solidFill>
                  <a:srgbClr val="333399"/>
                </a:solidFill>
                <a:ea typeface="+mj-lt"/>
                <a:cs typeface="+mj-lt"/>
              </a:rPr>
              <a:t> ²TICLab, Université Internationale de Rabat (UIR)</a:t>
            </a:r>
            <a:endParaRPr lang="en-GB" sz="4000" b="1">
              <a:ea typeface="MS PGothic"/>
              <a:cs typeface="+mj-lt"/>
            </a:endParaRPr>
          </a:p>
        </p:txBody>
      </p:sp>
      <p:sp>
        <p:nvSpPr>
          <p:cNvPr id="44" name="Rectangle 2">
            <a:extLst>
              <a:ext uri="{FF2B5EF4-FFF2-40B4-BE49-F238E27FC236}">
                <a16:creationId xmlns:a16="http://schemas.microsoft.com/office/drawing/2014/main" id="{B5312CD2-9772-419D-A057-ACA83261D4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9981" y="9122545"/>
            <a:ext cx="27246263" cy="708503"/>
          </a:xfrm>
          <a:prstGeom prst="rect">
            <a:avLst/>
          </a:prstGeom>
        </p:spPr>
        <p:txBody>
          <a:bodyPr vert="horz" wrap="square" lIns="91409" tIns="45705" rIns="91409" bIns="45705" numCol="1" anchor="t" anchorCtr="0" compatLnSpc="1">
            <a:prstTxWarp prst="textNoShape">
              <a:avLst/>
            </a:prstTxWarp>
          </a:bodyPr>
          <a:lstStyle>
            <a:lvl1pPr algn="ctr" defTabSz="3756025" rtl="0" eaLnBrk="0" fontAlgn="base" hangingPunct="0">
              <a:spcBef>
                <a:spcPct val="0"/>
              </a:spcBef>
              <a:spcAft>
                <a:spcPct val="0"/>
              </a:spcAft>
              <a:defRPr sz="9600">
                <a:solidFill>
                  <a:schemeClr val="tx1"/>
                </a:solidFill>
                <a:latin typeface="+mj-lt"/>
                <a:ea typeface="MS PGothic" pitchFamily="34" charset="-128"/>
                <a:cs typeface="+mj-cs"/>
              </a:defRPr>
            </a:lvl1pPr>
            <a:lvl2pPr algn="ctr" defTabSz="3756025" rtl="0" eaLnBrk="0" fontAlgn="base" hangingPunct="0">
              <a:spcBef>
                <a:spcPct val="0"/>
              </a:spcBef>
              <a:spcAft>
                <a:spcPct val="0"/>
              </a:spcAft>
              <a:defRPr sz="9600">
                <a:solidFill>
                  <a:srgbClr val="CC0000"/>
                </a:solidFill>
                <a:latin typeface="Tahoma" charset="0"/>
                <a:ea typeface="MS PGothic" pitchFamily="34" charset="-128"/>
              </a:defRPr>
            </a:lvl2pPr>
            <a:lvl3pPr algn="ctr" defTabSz="3756025" rtl="0" eaLnBrk="0" fontAlgn="base" hangingPunct="0">
              <a:spcBef>
                <a:spcPct val="0"/>
              </a:spcBef>
              <a:spcAft>
                <a:spcPct val="0"/>
              </a:spcAft>
              <a:defRPr sz="9600">
                <a:solidFill>
                  <a:srgbClr val="CC0000"/>
                </a:solidFill>
                <a:latin typeface="Tahoma" charset="0"/>
                <a:ea typeface="MS PGothic" pitchFamily="34" charset="-128"/>
              </a:defRPr>
            </a:lvl3pPr>
            <a:lvl4pPr algn="ctr" defTabSz="3756025" rtl="0" eaLnBrk="0" fontAlgn="base" hangingPunct="0">
              <a:spcBef>
                <a:spcPct val="0"/>
              </a:spcBef>
              <a:spcAft>
                <a:spcPct val="0"/>
              </a:spcAft>
              <a:defRPr sz="9600">
                <a:solidFill>
                  <a:srgbClr val="CC0000"/>
                </a:solidFill>
                <a:latin typeface="Tahoma" charset="0"/>
                <a:ea typeface="MS PGothic" pitchFamily="34" charset="-128"/>
              </a:defRPr>
            </a:lvl4pPr>
            <a:lvl5pPr algn="ctr" defTabSz="3756025" rtl="0" eaLnBrk="0" fontAlgn="base" hangingPunct="0">
              <a:spcBef>
                <a:spcPct val="0"/>
              </a:spcBef>
              <a:spcAft>
                <a:spcPct val="0"/>
              </a:spcAft>
              <a:defRPr sz="9600">
                <a:solidFill>
                  <a:srgbClr val="CC0000"/>
                </a:solidFill>
                <a:latin typeface="Tahoma" charset="0"/>
                <a:ea typeface="MS PGothic" pitchFamily="34" charset="-128"/>
              </a:defRPr>
            </a:lvl5pPr>
            <a:lvl6pPr marL="457200" algn="ctr" defTabSz="3756025" rtl="0" eaLnBrk="0" fontAlgn="base" hangingPunct="0">
              <a:spcBef>
                <a:spcPct val="0"/>
              </a:spcBef>
              <a:spcAft>
                <a:spcPct val="0"/>
              </a:spcAft>
              <a:defRPr sz="9600">
                <a:solidFill>
                  <a:srgbClr val="CC0000"/>
                </a:solidFill>
                <a:latin typeface="Tahoma" charset="0"/>
                <a:ea typeface="ＭＳ Ｐゴシック" charset="0"/>
              </a:defRPr>
            </a:lvl6pPr>
            <a:lvl7pPr marL="914400" algn="ctr" defTabSz="3756025" rtl="0" eaLnBrk="0" fontAlgn="base" hangingPunct="0">
              <a:spcBef>
                <a:spcPct val="0"/>
              </a:spcBef>
              <a:spcAft>
                <a:spcPct val="0"/>
              </a:spcAft>
              <a:defRPr sz="9600">
                <a:solidFill>
                  <a:srgbClr val="CC0000"/>
                </a:solidFill>
                <a:latin typeface="Tahoma" charset="0"/>
                <a:ea typeface="ＭＳ Ｐゴシック" charset="0"/>
              </a:defRPr>
            </a:lvl7pPr>
            <a:lvl8pPr marL="1371600" algn="ctr" defTabSz="3756025" rtl="0" eaLnBrk="0" fontAlgn="base" hangingPunct="0">
              <a:spcBef>
                <a:spcPct val="0"/>
              </a:spcBef>
              <a:spcAft>
                <a:spcPct val="0"/>
              </a:spcAft>
              <a:defRPr sz="9600">
                <a:solidFill>
                  <a:srgbClr val="CC0000"/>
                </a:solidFill>
                <a:latin typeface="Tahoma" charset="0"/>
                <a:ea typeface="ＭＳ Ｐゴシック" charset="0"/>
              </a:defRPr>
            </a:lvl8pPr>
            <a:lvl9pPr marL="1828800" algn="ctr" defTabSz="3756025" rtl="0" eaLnBrk="0" fontAlgn="base" hangingPunct="0">
              <a:spcBef>
                <a:spcPct val="0"/>
              </a:spcBef>
              <a:spcAft>
                <a:spcPct val="0"/>
              </a:spcAft>
              <a:defRPr sz="9600">
                <a:solidFill>
                  <a:srgbClr val="CC0000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4000" b="1" kern="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/>
              </a:rPr>
              <a:t>Email: niama.eddarbali@uir.ac.ma</a:t>
            </a:r>
            <a:endParaRPr lang="en-US" sz="4000" b="1" kern="0" dirty="0">
              <a:effectLst>
                <a:outerShdw blurRad="38100" dist="38100" dir="2700000" algn="tl">
                  <a:srgbClr val="C0C0C0"/>
                </a:outerShdw>
              </a:effectLst>
              <a:ea typeface="MS PGothic"/>
            </a:endParaRP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0A3124D2-7AFE-41D3-AB41-E622BB5BC970}"/>
              </a:ext>
            </a:extLst>
          </p:cNvPr>
          <p:cNvSpPr txBox="1"/>
          <p:nvPr/>
        </p:nvSpPr>
        <p:spPr>
          <a:xfrm>
            <a:off x="992626" y="30412468"/>
            <a:ext cx="28232867" cy="59523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91440" tIns="45720" rIns="91440" bIns="45720" anchor="t">
            <a:spAutoFit/>
          </a:bodyPr>
          <a:lstStyle/>
          <a:p>
            <a:pPr algn="just">
              <a:defRPr/>
            </a:pPr>
            <a:r>
              <a:rPr lang="fr-FR" sz="4400" b="1" dirty="0">
                <a:solidFill>
                  <a:srgbClr val="333399"/>
                </a:solidFill>
                <a:latin typeface="Tahoma" panose="020B0604030504040204" pitchFamily="34" charset="0"/>
              </a:rPr>
              <a:t>Conclusion &amp; Perspectives</a:t>
            </a:r>
            <a:endParaRPr lang="fr-FR" sz="4400" b="1">
              <a:solidFill>
                <a:srgbClr val="333399"/>
              </a:solidFill>
              <a:latin typeface="Tahoma" panose="020B0604030504040204" pitchFamily="34" charset="0"/>
              <a:cs typeface="Tahoma"/>
            </a:endParaRPr>
          </a:p>
          <a:p>
            <a:pPr algn="just" defTabSz="3756025">
              <a:spcBef>
                <a:spcPct val="20000"/>
              </a:spcBef>
              <a:defRPr/>
            </a:pPr>
            <a:r>
              <a:rPr lang="en-US" sz="4400" b="1" dirty="0">
                <a:latin typeface="Tahoma"/>
                <a:ea typeface="MS PGothic"/>
                <a:cs typeface="Tahoma"/>
              </a:rPr>
              <a:t>Conclusion &amp; perspectives</a:t>
            </a:r>
            <a:endParaRPr lang="en-US" sz="4400" b="1" dirty="0">
              <a:solidFill>
                <a:srgbClr val="333399"/>
              </a:solidFill>
              <a:latin typeface="Tahoma"/>
              <a:ea typeface="MS PGothic"/>
              <a:cs typeface="Tahoma"/>
            </a:endParaRPr>
          </a:p>
          <a:p>
            <a:pPr marL="571500" indent="-571500" algn="just" defTabSz="3756025">
              <a:buFont typeface="Arial"/>
              <a:buChar char="•"/>
              <a:defRPr/>
            </a:pPr>
            <a:r>
              <a:rPr lang="en-US" sz="4000" dirty="0">
                <a:latin typeface="Tahoma"/>
                <a:ea typeface="MS PGothic"/>
                <a:cs typeface="Tahoma"/>
              </a:rPr>
              <a:t>Our framework introduces confidence-aware dynamic transfer learning for low-resource NMT. Expected benefits:</a:t>
            </a:r>
          </a:p>
          <a:p>
            <a:pPr marL="571500" indent="-571500" algn="just" defTabSz="3756025">
              <a:buFont typeface="Arial"/>
              <a:buChar char="•"/>
              <a:defRPr/>
            </a:pPr>
            <a:r>
              <a:rPr lang="en-US" sz="4000" dirty="0">
                <a:latin typeface="Tahoma"/>
                <a:ea typeface="MS PGothic"/>
                <a:cs typeface="Tahoma"/>
              </a:rPr>
              <a:t>Reduced latency &amp; computational cost.</a:t>
            </a:r>
          </a:p>
          <a:p>
            <a:pPr marL="571500" indent="-571500" algn="just" defTabSz="3756025">
              <a:buFont typeface="Arial"/>
              <a:buChar char="•"/>
              <a:defRPr/>
            </a:pPr>
            <a:r>
              <a:rPr lang="en-US" sz="4000" dirty="0">
                <a:latin typeface="Tahoma"/>
                <a:ea typeface="MS PGothic"/>
                <a:cs typeface="Tahoma"/>
              </a:rPr>
              <a:t>Improved translation quality.</a:t>
            </a:r>
          </a:p>
          <a:p>
            <a:pPr marL="571500" indent="-571500" algn="just" defTabSz="3756025">
              <a:buFont typeface="Arial"/>
              <a:buChar char="•"/>
              <a:defRPr/>
            </a:pPr>
            <a:r>
              <a:rPr lang="en-US" sz="4000" dirty="0">
                <a:latin typeface="Tahoma"/>
                <a:ea typeface="MS PGothic"/>
                <a:cs typeface="Tahoma"/>
              </a:rPr>
              <a:t>Scalable solution adaptable to other seq2seq tasks (e.g., summarization).</a:t>
            </a:r>
          </a:p>
          <a:p>
            <a:pPr algn="just" defTabSz="3756025">
              <a:buFont typeface="Arial"/>
              <a:defRPr/>
            </a:pPr>
            <a:br>
              <a:rPr lang="en-US" sz="4000" dirty="0">
                <a:latin typeface="Tahoma"/>
                <a:ea typeface="MS PGothic"/>
                <a:cs typeface="Tahoma"/>
              </a:rPr>
            </a:br>
            <a:r>
              <a:rPr lang="en-US" sz="4000" dirty="0">
                <a:latin typeface="Tahoma"/>
                <a:ea typeface="MS PGothic"/>
                <a:cs typeface="Tahoma"/>
              </a:rPr>
              <a:t> This work contributes to building more sustainable, inclusive, and efficient MT systems.</a:t>
            </a:r>
            <a:endParaRPr lang="en-US" sz="4000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algn="just">
              <a:defRPr/>
            </a:pPr>
            <a:endParaRPr lang="en-US" sz="4400" b="1" dirty="0">
              <a:solidFill>
                <a:srgbClr val="333399"/>
              </a:solidFill>
              <a:latin typeface="Tahoma" panose="020B0604030504040204" pitchFamily="34" charset="0"/>
            </a:endParaRPr>
          </a:p>
        </p:txBody>
      </p:sp>
      <p:pic>
        <p:nvPicPr>
          <p:cNvPr id="6" name="Image 5" descr="Une image contenant Graphique, logo, texte, graphisme&#10;&#10;Le contenu généré par l’IA peut être incorrect.">
            <a:extLst>
              <a:ext uri="{FF2B5EF4-FFF2-40B4-BE49-F238E27FC236}">
                <a16:creationId xmlns:a16="http://schemas.microsoft.com/office/drawing/2014/main" id="{CEBFF6B4-8CDD-755A-EAAF-571986E04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3874" y="-656078"/>
            <a:ext cx="6807463" cy="470925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1C1213E-529A-A3A6-FE22-98AA0AE0F7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8" y="5003397"/>
            <a:ext cx="28874776" cy="1871848"/>
          </a:xfrm>
          <a:prstGeom prst="rect">
            <a:avLst/>
          </a:prstGeom>
        </p:spPr>
        <p:txBody>
          <a:bodyPr vert="horz" wrap="square" lIns="91409" tIns="45705" rIns="91409" bIns="45705" numCol="1" anchor="t" anchorCtr="0" compatLnSpc="1">
            <a:prstTxWarp prst="textNoShape">
              <a:avLst/>
            </a:prstTxWarp>
          </a:bodyPr>
          <a:lstStyle>
            <a:lvl1pPr algn="ctr" defTabSz="3756025" rtl="0" eaLnBrk="0" fontAlgn="base" hangingPunct="0">
              <a:spcBef>
                <a:spcPct val="0"/>
              </a:spcBef>
              <a:spcAft>
                <a:spcPct val="0"/>
              </a:spcAft>
              <a:defRPr sz="9600">
                <a:solidFill>
                  <a:schemeClr val="tx1"/>
                </a:solidFill>
                <a:latin typeface="+mj-lt"/>
                <a:ea typeface="MS PGothic" pitchFamily="34" charset="-128"/>
                <a:cs typeface="+mj-cs"/>
              </a:defRPr>
            </a:lvl1pPr>
            <a:lvl2pPr algn="ctr" defTabSz="3756025" rtl="0" eaLnBrk="0" fontAlgn="base" hangingPunct="0">
              <a:spcBef>
                <a:spcPct val="0"/>
              </a:spcBef>
              <a:spcAft>
                <a:spcPct val="0"/>
              </a:spcAft>
              <a:defRPr sz="9600">
                <a:solidFill>
                  <a:srgbClr val="CC0000"/>
                </a:solidFill>
                <a:latin typeface="Tahoma" charset="0"/>
                <a:ea typeface="MS PGothic" pitchFamily="34" charset="-128"/>
              </a:defRPr>
            </a:lvl2pPr>
            <a:lvl3pPr algn="ctr" defTabSz="3756025" rtl="0" eaLnBrk="0" fontAlgn="base" hangingPunct="0">
              <a:spcBef>
                <a:spcPct val="0"/>
              </a:spcBef>
              <a:spcAft>
                <a:spcPct val="0"/>
              </a:spcAft>
              <a:defRPr sz="9600">
                <a:solidFill>
                  <a:srgbClr val="CC0000"/>
                </a:solidFill>
                <a:latin typeface="Tahoma" charset="0"/>
                <a:ea typeface="MS PGothic" pitchFamily="34" charset="-128"/>
              </a:defRPr>
            </a:lvl3pPr>
            <a:lvl4pPr algn="ctr" defTabSz="3756025" rtl="0" eaLnBrk="0" fontAlgn="base" hangingPunct="0">
              <a:spcBef>
                <a:spcPct val="0"/>
              </a:spcBef>
              <a:spcAft>
                <a:spcPct val="0"/>
              </a:spcAft>
              <a:defRPr sz="9600">
                <a:solidFill>
                  <a:srgbClr val="CC0000"/>
                </a:solidFill>
                <a:latin typeface="Tahoma" charset="0"/>
                <a:ea typeface="MS PGothic" pitchFamily="34" charset="-128"/>
              </a:defRPr>
            </a:lvl4pPr>
            <a:lvl5pPr algn="ctr" defTabSz="3756025" rtl="0" eaLnBrk="0" fontAlgn="base" hangingPunct="0">
              <a:spcBef>
                <a:spcPct val="0"/>
              </a:spcBef>
              <a:spcAft>
                <a:spcPct val="0"/>
              </a:spcAft>
              <a:defRPr sz="9600">
                <a:solidFill>
                  <a:srgbClr val="CC0000"/>
                </a:solidFill>
                <a:latin typeface="Tahoma" charset="0"/>
                <a:ea typeface="MS PGothic" pitchFamily="34" charset="-128"/>
              </a:defRPr>
            </a:lvl5pPr>
            <a:lvl6pPr marL="457200" algn="ctr" defTabSz="3756025" rtl="0" eaLnBrk="0" fontAlgn="base" hangingPunct="0">
              <a:spcBef>
                <a:spcPct val="0"/>
              </a:spcBef>
              <a:spcAft>
                <a:spcPct val="0"/>
              </a:spcAft>
              <a:defRPr sz="9600">
                <a:solidFill>
                  <a:srgbClr val="CC0000"/>
                </a:solidFill>
                <a:latin typeface="Tahoma" charset="0"/>
                <a:ea typeface="ＭＳ Ｐゴシック" charset="0"/>
              </a:defRPr>
            </a:lvl6pPr>
            <a:lvl7pPr marL="914400" algn="ctr" defTabSz="3756025" rtl="0" eaLnBrk="0" fontAlgn="base" hangingPunct="0">
              <a:spcBef>
                <a:spcPct val="0"/>
              </a:spcBef>
              <a:spcAft>
                <a:spcPct val="0"/>
              </a:spcAft>
              <a:defRPr sz="9600">
                <a:solidFill>
                  <a:srgbClr val="CC0000"/>
                </a:solidFill>
                <a:latin typeface="Tahoma" charset="0"/>
                <a:ea typeface="ＭＳ Ｐゴシック" charset="0"/>
              </a:defRPr>
            </a:lvl7pPr>
            <a:lvl8pPr marL="1371600" algn="ctr" defTabSz="3756025" rtl="0" eaLnBrk="0" fontAlgn="base" hangingPunct="0">
              <a:spcBef>
                <a:spcPct val="0"/>
              </a:spcBef>
              <a:spcAft>
                <a:spcPct val="0"/>
              </a:spcAft>
              <a:defRPr sz="9600">
                <a:solidFill>
                  <a:srgbClr val="CC0000"/>
                </a:solidFill>
                <a:latin typeface="Tahoma" charset="0"/>
                <a:ea typeface="ＭＳ Ｐゴシック" charset="0"/>
              </a:defRPr>
            </a:lvl8pPr>
            <a:lvl9pPr marL="1828800" algn="ctr" defTabSz="3756025" rtl="0" eaLnBrk="0" fontAlgn="base" hangingPunct="0">
              <a:spcBef>
                <a:spcPct val="0"/>
              </a:spcBef>
              <a:spcAft>
                <a:spcPct val="0"/>
              </a:spcAft>
              <a:defRPr sz="9600">
                <a:solidFill>
                  <a:srgbClr val="CC0000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6000" b="1" kern="0" dirty="0">
                <a:ea typeface="MS PGothic"/>
                <a:cs typeface="Tahoma"/>
              </a:rPr>
              <a:t>Dynamic Transfer Learning for Low-Resource Sequence-to-sequence Models</a:t>
            </a:r>
          </a:p>
        </p:txBody>
      </p:sp>
      <p:pic>
        <p:nvPicPr>
          <p:cNvPr id="5" name="Image 4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C606F0E9-E629-212E-1577-8D6236E20F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72" y="366499"/>
            <a:ext cx="2782576" cy="3694990"/>
          </a:xfrm>
          <a:prstGeom prst="rect">
            <a:avLst/>
          </a:prstGeom>
        </p:spPr>
      </p:pic>
      <p:sp>
        <p:nvSpPr>
          <p:cNvPr id="26" name="ZoneTexte 25"/>
          <p:cNvSpPr txBox="1"/>
          <p:nvPr/>
        </p:nvSpPr>
        <p:spPr>
          <a:xfrm>
            <a:off x="934555" y="22536819"/>
            <a:ext cx="28232867" cy="704808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91440" tIns="45720" rIns="91440" bIns="45720" anchor="t">
            <a:spAutoFit/>
          </a:bodyPr>
          <a:lstStyle/>
          <a:p>
            <a:pPr algn="just">
              <a:defRPr/>
            </a:pPr>
            <a:r>
              <a:rPr lang="fr-FR" sz="4400" b="1" dirty="0">
                <a:solidFill>
                  <a:srgbClr val="333399"/>
                </a:solidFill>
                <a:latin typeface="Tahoma"/>
                <a:ea typeface="MS PGothic"/>
                <a:cs typeface="Tahoma"/>
              </a:rPr>
              <a:t>Méthodologie &amp; Résultats</a:t>
            </a:r>
            <a:endParaRPr lang="fr-FR" sz="4400" b="1" dirty="0">
              <a:solidFill>
                <a:srgbClr val="333399"/>
              </a:solidFill>
              <a:latin typeface="Tahoma" panose="020B0604030504040204" pitchFamily="34" charset="0"/>
              <a:cs typeface="Tahoma"/>
            </a:endParaRPr>
          </a:p>
          <a:p>
            <a:pPr algn="just">
              <a:defRPr/>
            </a:pPr>
            <a:r>
              <a:rPr lang="en-US" sz="4400" b="1" dirty="0">
                <a:latin typeface="Tahoma"/>
                <a:ea typeface="MS PGothic"/>
                <a:cs typeface="Tahoma"/>
              </a:rPr>
              <a:t>Methodology &amp; Results</a:t>
            </a:r>
          </a:p>
          <a:p>
            <a:pPr algn="just" defTabSz="3756025">
              <a:defRPr/>
            </a:pPr>
            <a:endParaRPr lang="en-US" sz="4400" b="1" dirty="0">
              <a:latin typeface="Tahoma"/>
              <a:ea typeface="MS PGothic"/>
              <a:cs typeface="Tahoma"/>
            </a:endParaRPr>
          </a:p>
          <a:p>
            <a:pPr marL="571500" indent="-571500" algn="just" defTabSz="3756025">
              <a:buFont typeface="Arial"/>
              <a:buChar char="•"/>
              <a:defRPr/>
            </a:pPr>
            <a:r>
              <a:rPr lang="en-US" sz="4000" b="1" dirty="0">
                <a:latin typeface="Tahoma"/>
                <a:ea typeface="MS PGothic"/>
                <a:cs typeface="Tahoma"/>
              </a:rPr>
              <a:t>Baseline:</a:t>
            </a:r>
            <a:r>
              <a:rPr lang="en-US" sz="4000" dirty="0">
                <a:latin typeface="Tahoma"/>
                <a:ea typeface="MS PGothic"/>
                <a:cs typeface="Tahoma"/>
              </a:rPr>
              <a:t> Reproduce </a:t>
            </a:r>
            <a:r>
              <a:rPr lang="en-US" sz="4000" err="1">
                <a:latin typeface="Tahoma"/>
                <a:ea typeface="MS PGothic"/>
                <a:cs typeface="Tahoma"/>
              </a:rPr>
              <a:t>kNN</a:t>
            </a:r>
            <a:r>
              <a:rPr lang="en-US" sz="4000" dirty="0">
                <a:latin typeface="Tahoma"/>
                <a:ea typeface="MS PGothic"/>
                <a:cs typeface="Tahoma"/>
              </a:rPr>
              <a:t>-TL for Moroccan dialect → MSA translation.</a:t>
            </a:r>
          </a:p>
          <a:p>
            <a:pPr marL="571500" indent="-571500" algn="just" defTabSz="3756025">
              <a:buFont typeface="Arial"/>
              <a:buChar char="•"/>
              <a:defRPr/>
            </a:pPr>
            <a:r>
              <a:rPr lang="en-US" sz="4000" b="1" dirty="0">
                <a:latin typeface="Tahoma"/>
                <a:ea typeface="MS PGothic"/>
                <a:cs typeface="Tahoma"/>
              </a:rPr>
              <a:t>Dynamic TL:</a:t>
            </a:r>
            <a:r>
              <a:rPr lang="en-US" sz="4000" dirty="0">
                <a:latin typeface="Tahoma"/>
                <a:ea typeface="MS PGothic"/>
                <a:cs typeface="Tahoma"/>
              </a:rPr>
              <a:t> Introduce confidence-aware mechanism (parent consulted only when child confidence is low).</a:t>
            </a:r>
          </a:p>
          <a:p>
            <a:pPr marL="571500" indent="-571500" algn="just" defTabSz="3756025">
              <a:buFont typeface="Arial"/>
              <a:buChar char="•"/>
              <a:defRPr/>
            </a:pPr>
            <a:r>
              <a:rPr lang="en-US" sz="4000" b="1" dirty="0">
                <a:latin typeface="Tahoma"/>
                <a:ea typeface="MS PGothic"/>
                <a:cs typeface="Tahoma"/>
              </a:rPr>
              <a:t>Datasets:</a:t>
            </a:r>
            <a:r>
              <a:rPr lang="en-US" sz="4000" dirty="0">
                <a:latin typeface="Tahoma"/>
                <a:ea typeface="MS PGothic"/>
                <a:cs typeface="Tahoma"/>
              </a:rPr>
              <a:t> PADIC, MADAR (child); HPLT, OPUS-100 (parent).</a:t>
            </a:r>
          </a:p>
          <a:p>
            <a:pPr marL="571500" indent="-571500" algn="just" defTabSz="3756025">
              <a:buFont typeface="Arial"/>
              <a:buChar char="•"/>
              <a:defRPr/>
            </a:pPr>
            <a:r>
              <a:rPr lang="en-US" sz="4000" b="1" dirty="0">
                <a:latin typeface="Tahoma"/>
                <a:ea typeface="MS PGothic"/>
                <a:cs typeface="Tahoma"/>
              </a:rPr>
              <a:t>Metrics:</a:t>
            </a:r>
            <a:r>
              <a:rPr lang="en-US" sz="4000" dirty="0">
                <a:latin typeface="Tahoma"/>
                <a:ea typeface="MS PGothic"/>
                <a:cs typeface="Tahoma"/>
              </a:rPr>
              <a:t> BLEU, </a:t>
            </a:r>
            <a:r>
              <a:rPr lang="en-US" sz="4000" err="1">
                <a:latin typeface="Tahoma"/>
                <a:ea typeface="MS PGothic"/>
                <a:cs typeface="Tahoma"/>
              </a:rPr>
              <a:t>BERTScore</a:t>
            </a:r>
            <a:r>
              <a:rPr lang="en-US" sz="4000" dirty="0">
                <a:latin typeface="Tahoma"/>
                <a:ea typeface="MS PGothic"/>
                <a:cs typeface="Tahoma"/>
              </a:rPr>
              <a:t>, inference latency, datastore queries.</a:t>
            </a:r>
          </a:p>
          <a:p>
            <a:pPr marL="571500" indent="-571500" algn="just" defTabSz="3756025">
              <a:buFont typeface="Arial"/>
              <a:buChar char="•"/>
              <a:defRPr/>
            </a:pPr>
            <a:r>
              <a:rPr lang="en-US" sz="4000" b="1" dirty="0">
                <a:latin typeface="Tahoma"/>
                <a:ea typeface="MS PGothic"/>
                <a:cs typeface="Tahoma"/>
              </a:rPr>
              <a:t>Preliminary results:</a:t>
            </a:r>
          </a:p>
          <a:p>
            <a:pPr marL="571500" indent="-571500" algn="just" defTabSz="3756025">
              <a:buFont typeface="Arial"/>
              <a:buChar char="•"/>
              <a:defRPr/>
            </a:pPr>
            <a:r>
              <a:rPr lang="en-US" sz="4000" dirty="0" err="1">
                <a:latin typeface="Tahoma"/>
                <a:ea typeface="MS PGothic"/>
                <a:cs typeface="Tahoma"/>
              </a:rPr>
              <a:t>kNN</a:t>
            </a:r>
            <a:r>
              <a:rPr lang="en-US" sz="4000" dirty="0">
                <a:latin typeface="Tahoma"/>
                <a:ea typeface="MS PGothic"/>
                <a:cs typeface="Tahoma"/>
              </a:rPr>
              <a:t>-TL underperformed due to domain mismatch, Out Of Vocabulary (OOV) tokens, and pseudo-source noise.</a:t>
            </a:r>
          </a:p>
          <a:p>
            <a:pPr marL="571500" indent="-571500" algn="just" defTabSz="3756025">
              <a:buFont typeface="Arial"/>
              <a:buChar char="•"/>
              <a:defRPr/>
            </a:pPr>
            <a:r>
              <a:rPr lang="en-US" sz="4000">
                <a:latin typeface="Tahoma"/>
                <a:ea typeface="MS PGothic"/>
                <a:cs typeface="Tahoma"/>
              </a:rPr>
              <a:t>Dynamic approach expected to reduce latency and improve robustness in dialectal Arabic translation.</a:t>
            </a:r>
          </a:p>
          <a:p>
            <a:pPr algn="just" defTabSz="3756025">
              <a:defRPr/>
            </a:pPr>
            <a:endParaRPr lang="en-US" sz="4000" dirty="0">
              <a:latin typeface="Tahoma"/>
              <a:ea typeface="MS PGothic"/>
              <a:cs typeface="Tahom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7595F2-8A79-9914-DE31-B5AAADBBD6E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4503" r="-853" b="37877"/>
          <a:stretch>
            <a:fillRect/>
          </a:stretch>
        </p:blipFill>
        <p:spPr>
          <a:xfrm>
            <a:off x="23433293" y="757171"/>
            <a:ext cx="6818635" cy="189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573836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0000"/>
      </a:accent1>
      <a:accent2>
        <a:srgbClr val="0000FF"/>
      </a:accent2>
      <a:accent3>
        <a:srgbClr val="FFFFFF"/>
      </a:accent3>
      <a:accent4>
        <a:srgbClr val="000000"/>
      </a:accent4>
      <a:accent5>
        <a:srgbClr val="FFAAAA"/>
      </a:accent5>
      <a:accent6>
        <a:srgbClr val="0000E7"/>
      </a:accent6>
      <a:hlink>
        <a:srgbClr val="0000FF"/>
      </a:hlink>
      <a:folHlink>
        <a:srgbClr val="808080"/>
      </a:folHlink>
    </a:clrScheme>
    <a:fontScheme name="Template">
      <a:majorFont>
        <a:latin typeface="Tahoma"/>
        <a:ea typeface="ＭＳ Ｐゴシック"/>
        <a:cs typeface=""/>
      </a:majorFont>
      <a:minorFont>
        <a:latin typeface="Comic Sans MS"/>
        <a:ea typeface="ＭＳ Ｐゴシック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281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281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ＭＳ Ｐゴシック" charset="0"/>
          </a:defRPr>
        </a:defPPr>
      </a:lstStyle>
    </a:lnDef>
  </a:objectDefaults>
  <a:extraClrSchemeLst>
    <a:extraClrScheme>
      <a:clrScheme name="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8313</TotalTime>
  <Words>60</Words>
  <Application>Microsoft Office PowerPoint</Application>
  <PresentationFormat>Custom</PresentationFormat>
  <Paragraphs>40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Template</vt:lpstr>
      <vt:lpstr>Apprentissage par transfert dynamique pour les modèles séquence-à-séquence en langue peu dotées</vt:lpstr>
    </vt:vector>
  </TitlesOfParts>
  <Company>Personal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Sabine Susstrunk</dc:creator>
  <cp:lastModifiedBy>Abdellah AITLAALIM</cp:lastModifiedBy>
  <cp:revision>624</cp:revision>
  <cp:lastPrinted>1999-06-13T10:30:32Z</cp:lastPrinted>
  <dcterms:created xsi:type="dcterms:W3CDTF">1999-06-13T19:15:03Z</dcterms:created>
  <dcterms:modified xsi:type="dcterms:W3CDTF">2025-09-29T11:55:27Z</dcterms:modified>
</cp:coreProperties>
</file>